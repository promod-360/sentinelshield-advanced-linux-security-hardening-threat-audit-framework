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14630400" cy="82296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83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0321" y="0"/>
            <a:ext cx="14677392" cy="8227457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0878" y="2245358"/>
            <a:ext cx="8178803" cy="1818640"/>
          </a:xfrm>
        </p:spPr>
        <p:txBody>
          <a:bodyPr anchor="b">
            <a:noAutofit/>
          </a:bodyPr>
          <a:lstStyle>
            <a:lvl1pPr algn="ctr">
              <a:defRPr sz="648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0878" y="4389117"/>
            <a:ext cx="8178803" cy="1584962"/>
          </a:xfrm>
        </p:spPr>
        <p:txBody>
          <a:bodyPr anchor="t">
            <a:normAutofit/>
          </a:bodyPr>
          <a:lstStyle>
            <a:lvl1pPr marL="0" indent="0" algn="ctr">
              <a:buNone/>
              <a:defRPr sz="2520">
                <a:solidFill>
                  <a:schemeClr val="tx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579879" y="6045196"/>
            <a:ext cx="1076960" cy="335280"/>
          </a:xfrm>
        </p:spPr>
        <p:txBody>
          <a:bodyPr/>
          <a:lstStyle/>
          <a:p>
            <a:pPr marL="12700">
              <a:lnSpc>
                <a:spcPts val="2090"/>
              </a:lnSpc>
            </a:pPr>
            <a:r>
              <a:rPr lang="en-US" spc="-10"/>
              <a:t>11/10/2025</a:t>
            </a:r>
            <a:endParaRPr lang="en-US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30877" y="6045196"/>
            <a:ext cx="6257562" cy="335280"/>
          </a:xfrm>
        </p:spPr>
        <p:txBody>
          <a:bodyPr/>
          <a:lstStyle/>
          <a:p>
            <a:pPr marL="649605">
              <a:lnSpc>
                <a:spcPts val="1810"/>
              </a:lnSpc>
            </a:pPr>
            <a:r>
              <a:rPr lang="en-US" spc="-20"/>
              <a:t>AI-</a:t>
            </a:r>
            <a:r>
              <a:rPr lang="en-US"/>
              <a:t>Based</a:t>
            </a:r>
            <a:r>
              <a:rPr lang="en-US" spc="-55"/>
              <a:t> </a:t>
            </a:r>
            <a:r>
              <a:rPr lang="en-US" spc="-20"/>
              <a:t>Healthcare</a:t>
            </a:r>
            <a:r>
              <a:rPr lang="en-US" spc="-5"/>
              <a:t> </a:t>
            </a:r>
            <a:r>
              <a:rPr lang="en-US"/>
              <a:t>Access</a:t>
            </a:r>
            <a:r>
              <a:rPr lang="en-US" spc="-40"/>
              <a:t> </a:t>
            </a:r>
            <a:r>
              <a:rPr lang="en-US" spc="-10"/>
              <a:t>Chatbot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48281" y="6045196"/>
            <a:ext cx="661400" cy="335280"/>
          </a:xfrm>
        </p:spPr>
        <p:txBody>
          <a:bodyPr/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3230879" y="4226557"/>
            <a:ext cx="81788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18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2090"/>
              </a:lnSpc>
            </a:pPr>
            <a:r>
              <a:rPr lang="en-US" spc="-10"/>
              <a:t>11/10/2025</a:t>
            </a:r>
            <a:endParaRPr lang="en-US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649605">
              <a:lnSpc>
                <a:spcPts val="1810"/>
              </a:lnSpc>
            </a:pPr>
            <a:r>
              <a:rPr lang="en-US" spc="-20"/>
              <a:t>AI-</a:t>
            </a:r>
            <a:r>
              <a:rPr lang="en-US"/>
              <a:t>Based</a:t>
            </a:r>
            <a:r>
              <a:rPr lang="en-US" spc="-55"/>
              <a:t> </a:t>
            </a:r>
            <a:r>
              <a:rPr lang="en-US" spc="-20"/>
              <a:t>Healthcare</a:t>
            </a:r>
            <a:r>
              <a:rPr lang="en-US" spc="-5"/>
              <a:t> </a:t>
            </a:r>
            <a:r>
              <a:rPr lang="en-US"/>
              <a:t>Access</a:t>
            </a:r>
            <a:r>
              <a:rPr lang="en-US" spc="-40"/>
              <a:t> </a:t>
            </a:r>
            <a:r>
              <a:rPr lang="en-US" spc="-10"/>
              <a:t>Chatbot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568471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8083" y="2103127"/>
            <a:ext cx="9790426" cy="2187017"/>
          </a:xfrm>
        </p:spPr>
        <p:txBody>
          <a:bodyPr anchor="b">
            <a:normAutofit/>
          </a:bodyPr>
          <a:lstStyle>
            <a:lvl1pPr algn="ctr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8080" y="4615262"/>
            <a:ext cx="9790428" cy="1145456"/>
          </a:xfrm>
        </p:spPr>
        <p:txBody>
          <a:bodyPr anchor="t">
            <a:normAutofit/>
          </a:bodyPr>
          <a:lstStyle>
            <a:lvl1pPr marL="0" indent="0" algn="ctr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2090"/>
              </a:lnSpc>
            </a:pPr>
            <a:r>
              <a:rPr lang="en-US" spc="-10"/>
              <a:t>11/10/2025</a:t>
            </a:r>
            <a:endParaRPr lang="en-US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649605">
              <a:lnSpc>
                <a:spcPts val="1810"/>
              </a:lnSpc>
            </a:pPr>
            <a:r>
              <a:rPr lang="en-US" spc="-20"/>
              <a:t>AI-</a:t>
            </a:r>
            <a:r>
              <a:rPr lang="en-US"/>
              <a:t>Based</a:t>
            </a:r>
            <a:r>
              <a:rPr lang="en-US" spc="-55"/>
              <a:t> </a:t>
            </a:r>
            <a:r>
              <a:rPr lang="en-US" spc="-20"/>
              <a:t>Healthcare</a:t>
            </a:r>
            <a:r>
              <a:rPr lang="en-US" spc="-5"/>
              <a:t> </a:t>
            </a:r>
            <a:r>
              <a:rPr lang="en-US"/>
              <a:t>Access</a:t>
            </a:r>
            <a:r>
              <a:rPr lang="en-US" spc="-40"/>
              <a:t> </a:t>
            </a:r>
            <a:r>
              <a:rPr lang="en-US" spc="-10"/>
              <a:t>Chatbot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415268" y="4452702"/>
            <a:ext cx="979605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649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8138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17613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2090"/>
              </a:lnSpc>
            </a:pPr>
            <a:r>
              <a:rPr lang="en-US" spc="-10"/>
              <a:t>11/10/2025</a:t>
            </a:r>
            <a:endParaRPr lang="en-US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649605">
              <a:lnSpc>
                <a:spcPts val="1810"/>
              </a:lnSpc>
            </a:pPr>
            <a:r>
              <a:rPr lang="en-US" spc="-20"/>
              <a:t>AI-</a:t>
            </a:r>
            <a:r>
              <a:rPr lang="en-US"/>
              <a:t>Based</a:t>
            </a:r>
            <a:r>
              <a:rPr lang="en-US" spc="-55"/>
              <a:t> </a:t>
            </a:r>
            <a:r>
              <a:rPr lang="en-US" spc="-20"/>
              <a:t>Healthcare</a:t>
            </a:r>
            <a:r>
              <a:rPr lang="en-US" spc="-5"/>
              <a:t> </a:t>
            </a:r>
            <a:r>
              <a:rPr lang="en-US"/>
              <a:t>Access</a:t>
            </a:r>
            <a:r>
              <a:rPr lang="en-US" spc="-40"/>
              <a:t> </a:t>
            </a:r>
            <a:r>
              <a:rPr lang="en-US" spc="-10"/>
              <a:t>Chatbot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109039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spcBef>
                <a:spcPts val="806"/>
              </a:spcBef>
              <a:spcAft>
                <a:spcPts val="720"/>
              </a:spcAft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4480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16804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spcBef>
                <a:spcPts val="806"/>
              </a:spcBef>
              <a:spcAft>
                <a:spcPts val="720"/>
              </a:spcAft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16804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2090"/>
              </a:lnSpc>
            </a:pPr>
            <a:r>
              <a:rPr lang="en-US" spc="-10"/>
              <a:t>11/10/2025</a:t>
            </a:r>
            <a:endParaRPr lang="en-US" spc="-1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649605">
              <a:lnSpc>
                <a:spcPts val="1810"/>
              </a:lnSpc>
            </a:pPr>
            <a:r>
              <a:rPr lang="en-US" spc="-20"/>
              <a:t>AI-</a:t>
            </a:r>
            <a:r>
              <a:rPr lang="en-US"/>
              <a:t>Based</a:t>
            </a:r>
            <a:r>
              <a:rPr lang="en-US" spc="-55"/>
              <a:t> </a:t>
            </a:r>
            <a:r>
              <a:rPr lang="en-US" spc="-20"/>
              <a:t>Healthcare</a:t>
            </a:r>
            <a:r>
              <a:rPr lang="en-US" spc="-5"/>
              <a:t> </a:t>
            </a:r>
            <a:r>
              <a:rPr lang="en-US"/>
              <a:t>Access</a:t>
            </a:r>
            <a:r>
              <a:rPr lang="en-US" spc="-40"/>
              <a:t> </a:t>
            </a:r>
            <a:r>
              <a:rPr lang="en-US" spc="-10"/>
              <a:t>Chatbot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49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2090"/>
              </a:lnSpc>
            </a:pPr>
            <a:r>
              <a:rPr lang="en-US" spc="-10"/>
              <a:t>11/10/2025</a:t>
            </a:r>
            <a:endParaRPr lang="en-US" spc="-1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649605">
              <a:lnSpc>
                <a:spcPts val="1810"/>
              </a:lnSpc>
            </a:pPr>
            <a:r>
              <a:rPr lang="en-US" spc="-20"/>
              <a:t>AI-</a:t>
            </a:r>
            <a:r>
              <a:rPr lang="en-US"/>
              <a:t>Based</a:t>
            </a:r>
            <a:r>
              <a:rPr lang="en-US" spc="-55"/>
              <a:t> </a:t>
            </a:r>
            <a:r>
              <a:rPr lang="en-US" spc="-20"/>
              <a:t>Healthcare</a:t>
            </a:r>
            <a:r>
              <a:rPr lang="en-US" spc="-5"/>
              <a:t> </a:t>
            </a:r>
            <a:r>
              <a:rPr lang="en-US"/>
              <a:t>Access</a:t>
            </a:r>
            <a:r>
              <a:rPr lang="en-US" spc="-40"/>
              <a:t> </a:t>
            </a:r>
            <a:r>
              <a:rPr lang="en-US" spc="-10"/>
              <a:t>Chatbot</a:t>
            </a:r>
            <a:endParaRPr lang="en-US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55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2090"/>
              </a:lnSpc>
            </a:pPr>
            <a:r>
              <a:rPr lang="en-US" spc="-10"/>
              <a:t>11/10/2025</a:t>
            </a:r>
            <a:endParaRPr lang="en-US" spc="-1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649605">
              <a:lnSpc>
                <a:spcPts val="1810"/>
              </a:lnSpc>
            </a:pPr>
            <a:r>
              <a:rPr lang="en-US" spc="-20"/>
              <a:t>AI-</a:t>
            </a:r>
            <a:r>
              <a:rPr lang="en-US"/>
              <a:t>Based</a:t>
            </a:r>
            <a:r>
              <a:rPr lang="en-US" spc="-55"/>
              <a:t> </a:t>
            </a:r>
            <a:r>
              <a:rPr lang="en-US" spc="-20"/>
              <a:t>Healthcare</a:t>
            </a:r>
            <a:r>
              <a:rPr lang="en-US" spc="-5"/>
              <a:t> </a:t>
            </a:r>
            <a:r>
              <a:rPr lang="en-US"/>
              <a:t>Access</a:t>
            </a:r>
            <a:r>
              <a:rPr lang="en-US" spc="-40"/>
              <a:t> </a:t>
            </a:r>
            <a:r>
              <a:rPr lang="en-US" spc="-10"/>
              <a:t>Chatbot</a:t>
            </a:r>
            <a:endParaRPr lang="en-US" spc="-1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43817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2574" y="1666241"/>
            <a:ext cx="4462146" cy="1645920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2402" y="1178558"/>
            <a:ext cx="6563359" cy="587248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2574" y="3637278"/>
            <a:ext cx="4462146" cy="2926085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2090"/>
              </a:lnSpc>
            </a:pPr>
            <a:r>
              <a:rPr lang="en-US" spc="-10"/>
              <a:t>11/10/2025</a:t>
            </a:r>
            <a:endParaRPr lang="en-US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649605">
              <a:lnSpc>
                <a:spcPts val="1810"/>
              </a:lnSpc>
            </a:pPr>
            <a:r>
              <a:rPr lang="en-US" spc="-20"/>
              <a:t>AI-</a:t>
            </a:r>
            <a:r>
              <a:rPr lang="en-US"/>
              <a:t>Based</a:t>
            </a:r>
            <a:r>
              <a:rPr lang="en-US" spc="-55"/>
              <a:t> </a:t>
            </a:r>
            <a:r>
              <a:rPr lang="en-US" spc="-20"/>
              <a:t>Healthcare</a:t>
            </a:r>
            <a:r>
              <a:rPr lang="en-US" spc="-5"/>
              <a:t> </a:t>
            </a:r>
            <a:r>
              <a:rPr lang="en-US"/>
              <a:t>Access</a:t>
            </a:r>
            <a:r>
              <a:rPr lang="en-US" spc="-40"/>
              <a:t> </a:t>
            </a:r>
            <a:r>
              <a:rPr lang="en-US" spc="-10"/>
              <a:t>Chatbot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675403" y="3495040"/>
            <a:ext cx="42173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375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79" y="2260598"/>
            <a:ext cx="7490179" cy="1645920"/>
          </a:xfrm>
        </p:spPr>
        <p:txBody>
          <a:bodyPr anchor="b">
            <a:normAutofit/>
          </a:bodyPr>
          <a:lstStyle>
            <a:lvl1pPr algn="ctr">
              <a:defRPr sz="33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3798" y="1249680"/>
            <a:ext cx="3676016" cy="573024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79" y="3906518"/>
            <a:ext cx="7490179" cy="2194560"/>
          </a:xfrm>
        </p:spPr>
        <p:txBody>
          <a:bodyPr anchor="t">
            <a:normAutofit/>
          </a:bodyPr>
          <a:lstStyle>
            <a:lvl1pPr marL="0" indent="0" algn="ctr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2090"/>
              </a:lnSpc>
            </a:pPr>
            <a:r>
              <a:rPr lang="en-US" spc="-10"/>
              <a:t>11/10/2025</a:t>
            </a:r>
            <a:endParaRPr lang="en-US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649605">
              <a:lnSpc>
                <a:spcPts val="1810"/>
              </a:lnSpc>
            </a:pPr>
            <a:r>
              <a:rPr lang="en-US" spc="-20"/>
              <a:t>AI-</a:t>
            </a:r>
            <a:r>
              <a:rPr lang="en-US"/>
              <a:t>Based</a:t>
            </a:r>
            <a:r>
              <a:rPr lang="en-US" spc="-55"/>
              <a:t> </a:t>
            </a:r>
            <a:r>
              <a:rPr lang="en-US" spc="-20"/>
              <a:t>Healthcare</a:t>
            </a:r>
            <a:r>
              <a:rPr lang="en-US" spc="-5"/>
              <a:t> </a:t>
            </a:r>
            <a:r>
              <a:rPr lang="en-US"/>
              <a:t>Access</a:t>
            </a:r>
            <a:r>
              <a:rPr lang="en-US" spc="-40"/>
              <a:t> </a:t>
            </a:r>
            <a:r>
              <a:rPr lang="en-US" spc="-10"/>
              <a:t>Chatbot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321925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5778498"/>
            <a:ext cx="11531599" cy="680086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49713" y="1249679"/>
            <a:ext cx="12127166" cy="4003043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81" y="6458584"/>
            <a:ext cx="11531599" cy="592454"/>
          </a:xfrm>
        </p:spPr>
        <p:txBody>
          <a:bodyPr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2090"/>
              </a:lnSpc>
            </a:pPr>
            <a:r>
              <a:rPr lang="en-US" spc="-10"/>
              <a:t>11/10/2025</a:t>
            </a:r>
            <a:endParaRPr lang="en-US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649605">
              <a:lnSpc>
                <a:spcPts val="1810"/>
              </a:lnSpc>
            </a:pPr>
            <a:r>
              <a:rPr lang="en-US" spc="-20"/>
              <a:t>AI-</a:t>
            </a:r>
            <a:r>
              <a:rPr lang="en-US"/>
              <a:t>Based</a:t>
            </a:r>
            <a:r>
              <a:rPr lang="en-US" spc="-55"/>
              <a:t> </a:t>
            </a:r>
            <a:r>
              <a:rPr lang="en-US" spc="-20"/>
              <a:t>Healthcare</a:t>
            </a:r>
            <a:r>
              <a:rPr lang="en-US" spc="-5"/>
              <a:t> </a:t>
            </a:r>
            <a:r>
              <a:rPr lang="en-US"/>
              <a:t>Access</a:t>
            </a:r>
            <a:r>
              <a:rPr lang="en-US" spc="-40"/>
              <a:t> </a:t>
            </a:r>
            <a:r>
              <a:rPr lang="en-US" spc="-10"/>
              <a:t>Chatbot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69644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642" y="1178558"/>
            <a:ext cx="11511278" cy="3545842"/>
          </a:xfrm>
        </p:spPr>
        <p:txBody>
          <a:bodyPr anchor="ctr">
            <a:normAutofit/>
          </a:bodyPr>
          <a:lstStyle>
            <a:lvl1pPr algn="ctr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4642" y="5212080"/>
            <a:ext cx="11511278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2090"/>
              </a:lnSpc>
            </a:pPr>
            <a:r>
              <a:rPr lang="en-US" spc="-10"/>
              <a:t>11/10/2025</a:t>
            </a:r>
            <a:endParaRPr lang="en-US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649605">
              <a:lnSpc>
                <a:spcPts val="1810"/>
              </a:lnSpc>
            </a:pPr>
            <a:r>
              <a:rPr lang="en-US" spc="-20"/>
              <a:t>AI-</a:t>
            </a:r>
            <a:r>
              <a:rPr lang="en-US"/>
              <a:t>Based</a:t>
            </a:r>
            <a:r>
              <a:rPr lang="en-US" spc="-55"/>
              <a:t> </a:t>
            </a:r>
            <a:r>
              <a:rPr lang="en-US" spc="-20"/>
              <a:t>Healthcare</a:t>
            </a:r>
            <a:r>
              <a:rPr lang="en-US" spc="-5"/>
              <a:t> </a:t>
            </a:r>
            <a:r>
              <a:rPr lang="en-US"/>
              <a:t>Access</a:t>
            </a:r>
            <a:r>
              <a:rPr lang="en-US" spc="-40"/>
              <a:t> </a:t>
            </a:r>
            <a:r>
              <a:rPr lang="en-US" spc="-10"/>
              <a:t>Chatbot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407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8448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09775" y="4023360"/>
            <a:ext cx="10607042" cy="70104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400"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212080"/>
            <a:ext cx="11531599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2090"/>
              </a:lnSpc>
            </a:pPr>
            <a:r>
              <a:rPr lang="en-US" spc="-10"/>
              <a:t>11/10/2025</a:t>
            </a:r>
            <a:endParaRPr lang="en-US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649605">
              <a:lnSpc>
                <a:spcPts val="1810"/>
              </a:lnSpc>
            </a:pPr>
            <a:r>
              <a:rPr lang="en-US" spc="-20"/>
              <a:t>AI-</a:t>
            </a:r>
            <a:r>
              <a:rPr lang="en-US"/>
              <a:t>Based</a:t>
            </a:r>
            <a:r>
              <a:rPr lang="en-US" spc="-55"/>
              <a:t> </a:t>
            </a:r>
            <a:r>
              <a:rPr lang="en-US" spc="-20"/>
              <a:t>Healthcare</a:t>
            </a:r>
            <a:r>
              <a:rPr lang="en-US" spc="-5"/>
              <a:t> </a:t>
            </a:r>
            <a:r>
              <a:rPr lang="en-US"/>
              <a:t>Access</a:t>
            </a:r>
            <a:r>
              <a:rPr lang="en-US" spc="-40"/>
              <a:t> </a:t>
            </a:r>
            <a:r>
              <a:rPr lang="en-US" spc="-10"/>
              <a:t>Chatbot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sp>
        <p:nvSpPr>
          <p:cNvPr id="14" name="TextBox 13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20320" y="339344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127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2" y="3970297"/>
            <a:ext cx="11531602" cy="1762560"/>
          </a:xfrm>
        </p:spPr>
        <p:txBody>
          <a:bodyPr anchor="b">
            <a:normAutofit/>
          </a:bodyPr>
          <a:lstStyle>
            <a:lvl1pPr algn="l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732857"/>
            <a:ext cx="11531602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2090"/>
              </a:lnSpc>
            </a:pPr>
            <a:r>
              <a:rPr lang="en-US" spc="-10"/>
              <a:t>11/10/2025</a:t>
            </a:r>
            <a:endParaRPr lang="en-US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649605">
              <a:lnSpc>
                <a:spcPts val="1810"/>
              </a:lnSpc>
            </a:pPr>
            <a:r>
              <a:rPr lang="en-US" spc="-20"/>
              <a:t>AI-</a:t>
            </a:r>
            <a:r>
              <a:rPr lang="en-US"/>
              <a:t>Based</a:t>
            </a:r>
            <a:r>
              <a:rPr lang="en-US" spc="-55"/>
              <a:t> </a:t>
            </a:r>
            <a:r>
              <a:rPr lang="en-US" spc="-20"/>
              <a:t>Healthcare</a:t>
            </a:r>
            <a:r>
              <a:rPr lang="en-US" spc="-5"/>
              <a:t> </a:t>
            </a:r>
            <a:r>
              <a:rPr lang="en-US"/>
              <a:t>Access</a:t>
            </a:r>
            <a:r>
              <a:rPr lang="en-US" spc="-40"/>
              <a:t> </a:t>
            </a:r>
            <a:r>
              <a:rPr lang="en-US" spc="-10"/>
              <a:t>Chatbot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1716064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6924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67174"/>
            <a:ext cx="11531602" cy="1064362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435600"/>
            <a:ext cx="11531602" cy="161544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2090"/>
              </a:lnSpc>
            </a:pPr>
            <a:r>
              <a:rPr lang="en-US" spc="-10"/>
              <a:t>11/10/2025</a:t>
            </a:r>
            <a:endParaRPr lang="en-US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649605">
              <a:lnSpc>
                <a:spcPts val="1810"/>
              </a:lnSpc>
            </a:pPr>
            <a:r>
              <a:rPr lang="en-US" spc="-20"/>
              <a:t>AI-</a:t>
            </a:r>
            <a:r>
              <a:rPr lang="en-US"/>
              <a:t>Based</a:t>
            </a:r>
            <a:r>
              <a:rPr lang="en-US" spc="-55"/>
              <a:t> </a:t>
            </a:r>
            <a:r>
              <a:rPr lang="en-US" spc="-20"/>
              <a:t>Healthcare</a:t>
            </a:r>
            <a:r>
              <a:rPr lang="en-US" spc="-5"/>
              <a:t> </a:t>
            </a:r>
            <a:r>
              <a:rPr lang="en-US"/>
              <a:t>Access</a:t>
            </a:r>
            <a:r>
              <a:rPr lang="en-US" spc="-40"/>
              <a:t> </a:t>
            </a:r>
            <a:r>
              <a:rPr lang="en-US" spc="-10"/>
              <a:t>Chatbot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sp>
        <p:nvSpPr>
          <p:cNvPr id="12" name="TextBox 11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20320" y="311911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063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1178558"/>
            <a:ext cx="11531599" cy="269240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56201"/>
            <a:ext cx="11531602" cy="100949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3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5364480"/>
            <a:ext cx="11531604" cy="168656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2090"/>
              </a:lnSpc>
            </a:pPr>
            <a:r>
              <a:rPr lang="en-US" spc="-10"/>
              <a:t>11/10/2025</a:t>
            </a:r>
            <a:endParaRPr lang="en-US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649605">
              <a:lnSpc>
                <a:spcPts val="1810"/>
              </a:lnSpc>
            </a:pPr>
            <a:r>
              <a:rPr lang="en-US" spc="-20"/>
              <a:t>AI-</a:t>
            </a:r>
            <a:r>
              <a:rPr lang="en-US"/>
              <a:t>Based</a:t>
            </a:r>
            <a:r>
              <a:rPr lang="en-US" spc="-55"/>
              <a:t> </a:t>
            </a:r>
            <a:r>
              <a:rPr lang="en-US" spc="-20"/>
              <a:t>Healthcare</a:t>
            </a:r>
            <a:r>
              <a:rPr lang="en-US" spc="-5"/>
              <a:t> </a:t>
            </a:r>
            <a:r>
              <a:rPr lang="en-US"/>
              <a:t>Access</a:t>
            </a:r>
            <a:r>
              <a:rPr lang="en-US" spc="-40"/>
              <a:t> </a:t>
            </a:r>
            <a:r>
              <a:rPr lang="en-US" spc="-10"/>
              <a:t>Chatbot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2090"/>
              </a:lnSpc>
            </a:pPr>
            <a:r>
              <a:rPr lang="en-US" spc="-10"/>
              <a:t>11/10/2025</a:t>
            </a:r>
            <a:endParaRPr lang="en-US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649605">
              <a:lnSpc>
                <a:spcPts val="1810"/>
              </a:lnSpc>
            </a:pPr>
            <a:r>
              <a:rPr lang="en-US" spc="-20"/>
              <a:t>AI-</a:t>
            </a:r>
            <a:r>
              <a:rPr lang="en-US"/>
              <a:t>Based</a:t>
            </a:r>
            <a:r>
              <a:rPr lang="en-US" spc="-55"/>
              <a:t> </a:t>
            </a:r>
            <a:r>
              <a:rPr lang="en-US" spc="-20"/>
              <a:t>Healthcare</a:t>
            </a:r>
            <a:r>
              <a:rPr lang="en-US" spc="-5"/>
              <a:t> </a:t>
            </a:r>
            <a:r>
              <a:rPr lang="en-US"/>
              <a:t>Access</a:t>
            </a:r>
            <a:r>
              <a:rPr lang="en-US" spc="-40"/>
              <a:t> </a:t>
            </a:r>
            <a:r>
              <a:rPr lang="en-US" spc="-10"/>
              <a:t>Chatbot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409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9228" y="1178558"/>
            <a:ext cx="2269074" cy="58724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54478" y="1178558"/>
            <a:ext cx="8919630" cy="587248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2090"/>
              </a:lnSpc>
            </a:pPr>
            <a:r>
              <a:rPr lang="en-US" spc="-10"/>
              <a:t>11/10/2025</a:t>
            </a:r>
            <a:endParaRPr lang="en-US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649605">
              <a:lnSpc>
                <a:spcPts val="1810"/>
              </a:lnSpc>
            </a:pPr>
            <a:r>
              <a:rPr lang="en-US" spc="-20"/>
              <a:t>AI-</a:t>
            </a:r>
            <a:r>
              <a:rPr lang="en-US"/>
              <a:t>Based</a:t>
            </a:r>
            <a:r>
              <a:rPr lang="en-US" spc="-55"/>
              <a:t> </a:t>
            </a:r>
            <a:r>
              <a:rPr lang="en-US" spc="-20"/>
              <a:t>Healthcare</a:t>
            </a:r>
            <a:r>
              <a:rPr lang="en-US" spc="-5"/>
              <a:t> </a:t>
            </a:r>
            <a:r>
              <a:rPr lang="en-US"/>
              <a:t>Access</a:t>
            </a:r>
            <a:r>
              <a:rPr lang="en-US" spc="-40"/>
              <a:t> </a:t>
            </a:r>
            <a:r>
              <a:rPr lang="en-US" spc="-10"/>
              <a:t>Chatbot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636668" y="1188720"/>
            <a:ext cx="0" cy="585216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606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8883" y="0"/>
            <a:ext cx="14675954" cy="8227457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4483" y="1178559"/>
            <a:ext cx="11521435" cy="156464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3068319"/>
            <a:ext cx="11521435" cy="39827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13001" y="7162800"/>
            <a:ext cx="192024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12700">
              <a:lnSpc>
                <a:spcPts val="2090"/>
              </a:lnSpc>
            </a:pPr>
            <a:r>
              <a:rPr lang="en-US" spc="-10"/>
              <a:t>11/10/2025</a:t>
            </a:r>
            <a:endParaRPr lang="en-US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4481" y="7162800"/>
            <a:ext cx="876708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649605">
              <a:lnSpc>
                <a:spcPts val="1810"/>
              </a:lnSpc>
            </a:pPr>
            <a:r>
              <a:rPr lang="en-US" spc="-20"/>
              <a:t>AI-</a:t>
            </a:r>
            <a:r>
              <a:rPr lang="en-US"/>
              <a:t>Based</a:t>
            </a:r>
            <a:r>
              <a:rPr lang="en-US" spc="-55"/>
              <a:t> </a:t>
            </a:r>
            <a:r>
              <a:rPr lang="en-US" spc="-20"/>
              <a:t>Healthcare</a:t>
            </a:r>
            <a:r>
              <a:rPr lang="en-US" spc="-5"/>
              <a:t> </a:t>
            </a:r>
            <a:r>
              <a:rPr lang="en-US"/>
              <a:t>Access</a:t>
            </a:r>
            <a:r>
              <a:rPr lang="en-US" spc="-40"/>
              <a:t> </a:t>
            </a:r>
            <a:r>
              <a:rPr lang="en-US" spc="-10"/>
              <a:t>Chatbot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24682" y="7162800"/>
            <a:ext cx="651236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90289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ctr" defTabSz="548640" rtl="0" eaLnBrk="1" latinLnBrk="0" hangingPunct="1">
        <a:spcBef>
          <a:spcPct val="0"/>
        </a:spcBef>
        <a:buNone/>
        <a:defRPr sz="528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8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16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92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5486400" y="1400023"/>
            <a:ext cx="20089368" cy="2196754"/>
          </a:xfrm>
          <a:prstGeom prst="rect">
            <a:avLst/>
          </a:prstGeom>
        </p:spPr>
        <p:txBody>
          <a:bodyPr vert="horz" wrap="square" lIns="0" tIns="834389" rIns="0" bIns="0" rtlCol="0">
            <a:spAutoFit/>
          </a:bodyPr>
          <a:lstStyle/>
          <a:p>
            <a:pPr marL="5706110" algn="ctr">
              <a:lnSpc>
                <a:spcPct val="100000"/>
              </a:lnSpc>
              <a:spcBef>
                <a:spcPts val="95"/>
              </a:spcBef>
            </a:pPr>
            <a:r>
              <a:rPr lang="en-US" sz="4800" dirty="0" err="1">
                <a:latin typeface="Impact" panose="020B0806030902050204" pitchFamily="34" charset="0"/>
              </a:rPr>
              <a:t>SentinelShield</a:t>
            </a:r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000" dirty="0">
                <a:latin typeface="Impact" panose="020B0806030902050204" pitchFamily="34" charset="0"/>
              </a:rPr>
              <a:t>Advanced Linux Security Hardening  &amp; Threat Audit Framework </a:t>
            </a:r>
            <a:endParaRPr sz="4000" b="1" dirty="0">
              <a:latin typeface="Impact" panose="020B080603090205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7730539"/>
            <a:ext cx="10003282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0" dirty="0">
                <a:solidFill>
                  <a:srgbClr val="2C3048"/>
                </a:solidFill>
                <a:latin typeface="+mn-lt"/>
                <a:cs typeface="Arial"/>
              </a:rPr>
              <a:t>12/25/2025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294396" y="785817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2C3048"/>
                </a:solidFill>
                <a:latin typeface="Arial"/>
                <a:cs typeface="Arial"/>
              </a:rPr>
              <a:t>1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29000" y="7787174"/>
            <a:ext cx="839444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>
                <a:latin typeface="+mn-lt"/>
              </a:rPr>
              <a:t>SentinelShield</a:t>
            </a:r>
            <a:r>
              <a:rPr lang="en-US" dirty="0">
                <a:latin typeface="+mn-lt"/>
              </a:rPr>
              <a:t>: Advanced Linux Security Hardening &amp; Threat Audit Framework</a:t>
            </a:r>
            <a:endParaRPr sz="1800" dirty="0">
              <a:latin typeface="+mn-lt"/>
              <a:cs typeface="Calibri"/>
            </a:endParaRPr>
          </a:p>
        </p:txBody>
      </p:sp>
      <p:pic>
        <p:nvPicPr>
          <p:cNvPr id="1026" name="Picture 2" descr="Green University of Bangladesh - Wikipedia">
            <a:extLst>
              <a:ext uri="{FF2B5EF4-FFF2-40B4-BE49-F238E27FC236}">
                <a16:creationId xmlns:a16="http://schemas.microsoft.com/office/drawing/2014/main" id="{AABDD581-AD29-4333-7263-0AC5D00BC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09994"/>
            <a:ext cx="2362200" cy="918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pt. of CSE- Green University of Bangladesh | Narayanganj">
            <a:extLst>
              <a:ext uri="{FF2B5EF4-FFF2-40B4-BE49-F238E27FC236}">
                <a16:creationId xmlns:a16="http://schemas.microsoft.com/office/drawing/2014/main" id="{09A5E67F-754A-F7DB-D3E1-F24FC30EA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9882" y="809994"/>
            <a:ext cx="1223070" cy="1223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0AF090-7D78-0723-C0EF-B7CB4BFE1DC2}"/>
              </a:ext>
            </a:extLst>
          </p:cNvPr>
          <p:cNvSpPr txBox="1"/>
          <p:nvPr/>
        </p:nvSpPr>
        <p:spPr>
          <a:xfrm>
            <a:off x="36576" y="5715681"/>
            <a:ext cx="1463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+mn-lt"/>
              </a:rPr>
              <a:t>Course Teacher’s Name: Md. Shoaib Alam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EBFCC8-642F-ADE5-1DAB-56D9A21A4EE8}"/>
              </a:ext>
            </a:extLst>
          </p:cNvPr>
          <p:cNvSpPr txBox="1"/>
          <p:nvPr/>
        </p:nvSpPr>
        <p:spPr>
          <a:xfrm>
            <a:off x="76200" y="3916657"/>
            <a:ext cx="1447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+mn-lt"/>
              </a:rPr>
              <a:t>Course Title: Operating Systems Lab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F7DEDC-ED71-A322-34CD-B8CCC2F17084}"/>
              </a:ext>
            </a:extLst>
          </p:cNvPr>
          <p:cNvSpPr txBox="1"/>
          <p:nvPr/>
        </p:nvSpPr>
        <p:spPr>
          <a:xfrm>
            <a:off x="0" y="4271563"/>
            <a:ext cx="14554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+mn-lt"/>
              </a:rPr>
              <a:t>Course Code: CSE-402</a:t>
            </a:r>
          </a:p>
          <a:p>
            <a:endParaRPr lang="en-US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19A6B4-545A-E9F6-F009-5A71C6267F45}"/>
              </a:ext>
            </a:extLst>
          </p:cNvPr>
          <p:cNvSpPr txBox="1"/>
          <p:nvPr/>
        </p:nvSpPr>
        <p:spPr>
          <a:xfrm>
            <a:off x="0" y="4628256"/>
            <a:ext cx="14554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+mn-lt"/>
              </a:rPr>
              <a:t>Section: 231-D2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5087600" cy="10908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3600" dirty="0"/>
              <a:t>The Threat Audit Team: Expertise Driving Linux Security</a:t>
            </a:r>
            <a:endParaRPr lang="en-US" sz="3600" spc="-10" dirty="0"/>
          </a:p>
          <a:p>
            <a:pPr marL="160020" marR="5080">
              <a:lnSpc>
                <a:spcPct val="162900"/>
              </a:lnSpc>
              <a:spcBef>
                <a:spcPts val="935"/>
              </a:spcBef>
            </a:pPr>
            <a:r>
              <a:rPr lang="en-US" sz="1700" dirty="0"/>
              <a:t>Our team combines deep expertise in Linux security and automation. This enables us to design robust and real-world system solutions</a:t>
            </a:r>
            <a:r>
              <a:rPr lang="en-US" sz="1800" dirty="0"/>
              <a:t>.</a:t>
            </a:r>
            <a:endParaRPr lang="en-US" sz="1750" dirty="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54028" y="3064716"/>
            <a:ext cx="4110499" cy="3805206"/>
            <a:chOff x="5136010" y="2461390"/>
            <a:chExt cx="4189095" cy="4528820"/>
          </a:xfrm>
        </p:grpSpPr>
        <p:sp>
          <p:nvSpPr>
            <p:cNvPr id="4" name="object 4"/>
            <p:cNvSpPr/>
            <p:nvPr/>
          </p:nvSpPr>
          <p:spPr>
            <a:xfrm>
              <a:off x="5151246" y="2476627"/>
              <a:ext cx="4158615" cy="4498340"/>
            </a:xfrm>
            <a:custGeom>
              <a:avLst/>
              <a:gdLst/>
              <a:ahLst/>
              <a:cxnLst/>
              <a:rect l="l" t="t" r="r" b="b"/>
              <a:pathLst>
                <a:path w="4158615" h="4498340">
                  <a:moveTo>
                    <a:pt x="0" y="75692"/>
                  </a:moveTo>
                  <a:lnTo>
                    <a:pt x="7365" y="46227"/>
                  </a:lnTo>
                  <a:lnTo>
                    <a:pt x="27558" y="22225"/>
                  </a:lnTo>
                  <a:lnTo>
                    <a:pt x="57657" y="5969"/>
                  </a:lnTo>
                  <a:lnTo>
                    <a:pt x="94361" y="0"/>
                  </a:lnTo>
                  <a:lnTo>
                    <a:pt x="4064127" y="0"/>
                  </a:lnTo>
                  <a:lnTo>
                    <a:pt x="4116451" y="12700"/>
                  </a:lnTo>
                  <a:lnTo>
                    <a:pt x="4151376" y="46736"/>
                  </a:lnTo>
                  <a:lnTo>
                    <a:pt x="4158487" y="75692"/>
                  </a:lnTo>
                  <a:lnTo>
                    <a:pt x="4158487" y="4422267"/>
                  </a:lnTo>
                  <a:lnTo>
                    <a:pt x="4151122" y="4451731"/>
                  </a:lnTo>
                  <a:lnTo>
                    <a:pt x="4130929" y="4475734"/>
                  </a:lnTo>
                  <a:lnTo>
                    <a:pt x="4100829" y="4491977"/>
                  </a:lnTo>
                  <a:lnTo>
                    <a:pt x="4064127" y="4497933"/>
                  </a:lnTo>
                  <a:lnTo>
                    <a:pt x="94361" y="4497933"/>
                  </a:lnTo>
                  <a:lnTo>
                    <a:pt x="57657" y="4491977"/>
                  </a:lnTo>
                  <a:lnTo>
                    <a:pt x="27558" y="4475734"/>
                  </a:lnTo>
                  <a:lnTo>
                    <a:pt x="7365" y="4451731"/>
                  </a:lnTo>
                  <a:lnTo>
                    <a:pt x="0" y="4422267"/>
                  </a:lnTo>
                  <a:lnTo>
                    <a:pt x="0" y="75692"/>
                  </a:lnTo>
                  <a:close/>
                </a:path>
              </a:pathLst>
            </a:custGeom>
            <a:ln w="30473">
              <a:solidFill>
                <a:srgbClr val="C5D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98236" y="2506472"/>
              <a:ext cx="4098290" cy="680720"/>
            </a:xfrm>
            <a:custGeom>
              <a:avLst/>
              <a:gdLst/>
              <a:ahLst/>
              <a:cxnLst/>
              <a:rect l="l" t="t" r="r" b="b"/>
              <a:pathLst>
                <a:path w="4098290" h="680719">
                  <a:moveTo>
                    <a:pt x="4024757" y="0"/>
                  </a:moveTo>
                  <a:lnTo>
                    <a:pt x="73151" y="0"/>
                  </a:lnTo>
                  <a:lnTo>
                    <a:pt x="44703" y="4572"/>
                  </a:lnTo>
                  <a:lnTo>
                    <a:pt x="21462" y="17144"/>
                  </a:lnTo>
                  <a:lnTo>
                    <a:pt x="5714" y="35813"/>
                  </a:lnTo>
                  <a:lnTo>
                    <a:pt x="0" y="58674"/>
                  </a:lnTo>
                  <a:lnTo>
                    <a:pt x="0" y="621664"/>
                  </a:lnTo>
                  <a:lnTo>
                    <a:pt x="5714" y="644525"/>
                  </a:lnTo>
                  <a:lnTo>
                    <a:pt x="21462" y="663193"/>
                  </a:lnTo>
                  <a:lnTo>
                    <a:pt x="44703" y="675766"/>
                  </a:lnTo>
                  <a:lnTo>
                    <a:pt x="73151" y="680338"/>
                  </a:lnTo>
                  <a:lnTo>
                    <a:pt x="4024757" y="680338"/>
                  </a:lnTo>
                  <a:lnTo>
                    <a:pt x="4053205" y="675766"/>
                  </a:lnTo>
                  <a:lnTo>
                    <a:pt x="4076572" y="663193"/>
                  </a:lnTo>
                  <a:lnTo>
                    <a:pt x="4092193" y="644525"/>
                  </a:lnTo>
                  <a:lnTo>
                    <a:pt x="4097909" y="621664"/>
                  </a:lnTo>
                  <a:lnTo>
                    <a:pt x="4097909" y="58674"/>
                  </a:lnTo>
                  <a:lnTo>
                    <a:pt x="4076572" y="17144"/>
                  </a:lnTo>
                  <a:lnTo>
                    <a:pt x="4024757" y="0"/>
                  </a:lnTo>
                  <a:close/>
                </a:path>
              </a:pathLst>
            </a:custGeom>
            <a:solidFill>
              <a:srgbClr val="DE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0972" y="2676601"/>
              <a:ext cx="337070" cy="340156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600238" y="3670867"/>
            <a:ext cx="4098290" cy="2283317"/>
          </a:xfrm>
          <a:prstGeom prst="rect">
            <a:avLst/>
          </a:prstGeom>
        </p:spPr>
        <p:txBody>
          <a:bodyPr vert="horz" wrap="square" lIns="0" tIns="19875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565"/>
              </a:spcBef>
            </a:pPr>
            <a:r>
              <a:rPr sz="2200" spc="-105" dirty="0">
                <a:solidFill>
                  <a:srgbClr val="2C3048"/>
                </a:solidFill>
                <a:latin typeface="Lucida Sans Unicode"/>
                <a:cs typeface="Lucida Sans Unicode"/>
              </a:rPr>
              <a:t>Promod</a:t>
            </a:r>
            <a:r>
              <a:rPr sz="2200" spc="-170" dirty="0">
                <a:solidFill>
                  <a:srgbClr val="2C3048"/>
                </a:solidFill>
                <a:latin typeface="Lucida Sans Unicode"/>
                <a:cs typeface="Lucida Sans Unicode"/>
              </a:rPr>
              <a:t> </a:t>
            </a:r>
            <a:r>
              <a:rPr sz="2200" spc="-114" dirty="0">
                <a:solidFill>
                  <a:srgbClr val="2C3048"/>
                </a:solidFill>
                <a:latin typeface="Lucida Sans Unicode"/>
                <a:cs typeface="Lucida Sans Unicode"/>
              </a:rPr>
              <a:t>Chandra</a:t>
            </a:r>
            <a:r>
              <a:rPr sz="2200" spc="-235" dirty="0">
                <a:solidFill>
                  <a:srgbClr val="2C3048"/>
                </a:solidFill>
                <a:latin typeface="Lucida Sans Unicode"/>
                <a:cs typeface="Lucida Sans Unicode"/>
              </a:rPr>
              <a:t> </a:t>
            </a:r>
            <a:r>
              <a:rPr sz="2200" spc="-25" dirty="0">
                <a:solidFill>
                  <a:srgbClr val="2C3048"/>
                </a:solidFill>
                <a:latin typeface="Lucida Sans Unicode"/>
                <a:cs typeface="Lucida Sans Unicode"/>
              </a:rPr>
              <a:t>Das</a:t>
            </a:r>
            <a:endParaRPr lang="en-US" sz="2200" dirty="0">
              <a:latin typeface="Lucida Sans Unicode"/>
              <a:cs typeface="Lucida Sans Unicode"/>
            </a:endParaRPr>
          </a:p>
          <a:p>
            <a:pPr marL="12700" algn="ctr">
              <a:lnSpc>
                <a:spcPct val="100000"/>
              </a:lnSpc>
              <a:spcBef>
                <a:spcPts val="1565"/>
              </a:spcBef>
            </a:pPr>
            <a:r>
              <a:rPr sz="1750" spc="45" dirty="0">
                <a:solidFill>
                  <a:srgbClr val="2C3048"/>
                </a:solidFill>
                <a:latin typeface="Arial MT"/>
                <a:cs typeface="Arial MT"/>
              </a:rPr>
              <a:t>231002005</a:t>
            </a:r>
            <a:endParaRPr lang="en-US" sz="1750" spc="45" dirty="0">
              <a:solidFill>
                <a:srgbClr val="2C3048"/>
              </a:solidFill>
              <a:latin typeface="Arial MT"/>
              <a:cs typeface="Arial MT"/>
            </a:endParaRPr>
          </a:p>
          <a:p>
            <a:pPr marL="12700" algn="ctr">
              <a:lnSpc>
                <a:spcPct val="100000"/>
              </a:lnSpc>
              <a:spcBef>
                <a:spcPts val="1170"/>
              </a:spcBef>
            </a:pPr>
            <a:r>
              <a:rPr lang="en-US" sz="1750" spc="45" dirty="0">
                <a:solidFill>
                  <a:srgbClr val="2C3048"/>
                </a:solidFill>
                <a:latin typeface="Arial MT"/>
                <a:cs typeface="Arial MT"/>
              </a:rPr>
              <a:t>   Dept of CSE </a:t>
            </a:r>
          </a:p>
          <a:p>
            <a:pPr marL="12700" algn="ctr">
              <a:spcBef>
                <a:spcPts val="1170"/>
              </a:spcBef>
            </a:pPr>
            <a:r>
              <a:rPr lang="en-US" sz="1750" dirty="0">
                <a:solidFill>
                  <a:srgbClr val="2C3048"/>
                </a:solidFill>
                <a:latin typeface="Arial MT"/>
                <a:cs typeface="Arial MT"/>
              </a:rPr>
              <a:t>Green</a:t>
            </a:r>
            <a:r>
              <a:rPr lang="en-US" sz="1750" spc="-50" dirty="0">
                <a:solidFill>
                  <a:srgbClr val="2C3048"/>
                </a:solidFill>
                <a:latin typeface="Arial MT"/>
                <a:cs typeface="Arial MT"/>
              </a:rPr>
              <a:t> </a:t>
            </a:r>
            <a:r>
              <a:rPr lang="en-US" sz="1750" dirty="0">
                <a:solidFill>
                  <a:srgbClr val="2C3048"/>
                </a:solidFill>
                <a:latin typeface="Arial MT"/>
                <a:cs typeface="Arial MT"/>
              </a:rPr>
              <a:t>University</a:t>
            </a:r>
            <a:r>
              <a:rPr lang="en-US" sz="1750" spc="-35" dirty="0">
                <a:solidFill>
                  <a:srgbClr val="2C3048"/>
                </a:solidFill>
                <a:latin typeface="Arial MT"/>
                <a:cs typeface="Arial MT"/>
              </a:rPr>
              <a:t> </a:t>
            </a:r>
            <a:r>
              <a:rPr lang="en-US" sz="1750" dirty="0">
                <a:solidFill>
                  <a:srgbClr val="2C3048"/>
                </a:solidFill>
                <a:latin typeface="Arial MT"/>
                <a:cs typeface="Arial MT"/>
              </a:rPr>
              <a:t>of</a:t>
            </a:r>
            <a:r>
              <a:rPr lang="en-US" sz="1750" spc="-40" dirty="0">
                <a:solidFill>
                  <a:srgbClr val="2C3048"/>
                </a:solidFill>
                <a:latin typeface="Arial MT"/>
                <a:cs typeface="Arial MT"/>
              </a:rPr>
              <a:t> </a:t>
            </a:r>
            <a:r>
              <a:rPr lang="en-US" sz="1750" spc="-10" dirty="0">
                <a:solidFill>
                  <a:srgbClr val="2C3048"/>
                </a:solidFill>
                <a:latin typeface="Arial MT"/>
                <a:cs typeface="Arial MT"/>
              </a:rPr>
              <a:t>Bangladesh</a:t>
            </a:r>
            <a:endParaRPr lang="en-US" sz="17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endParaRPr sz="175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757198" y="3064716"/>
            <a:ext cx="4168776" cy="3738110"/>
            <a:chOff x="488619" y="2476627"/>
            <a:chExt cx="4230370" cy="4498340"/>
          </a:xfrm>
        </p:grpSpPr>
        <p:sp>
          <p:nvSpPr>
            <p:cNvPr id="14" name="object 14"/>
            <p:cNvSpPr/>
            <p:nvPr/>
          </p:nvSpPr>
          <p:spPr>
            <a:xfrm>
              <a:off x="488619" y="2476627"/>
              <a:ext cx="4230370" cy="4498340"/>
            </a:xfrm>
            <a:custGeom>
              <a:avLst/>
              <a:gdLst/>
              <a:ahLst/>
              <a:cxnLst/>
              <a:rect l="l" t="t" r="r" b="b"/>
              <a:pathLst>
                <a:path w="4230370" h="4498340">
                  <a:moveTo>
                    <a:pt x="0" y="75692"/>
                  </a:moveTo>
                  <a:lnTo>
                    <a:pt x="7543" y="46227"/>
                  </a:lnTo>
                  <a:lnTo>
                    <a:pt x="28117" y="22225"/>
                  </a:lnTo>
                  <a:lnTo>
                    <a:pt x="58635" y="5969"/>
                  </a:lnTo>
                  <a:lnTo>
                    <a:pt x="96012" y="0"/>
                  </a:lnTo>
                  <a:lnTo>
                    <a:pt x="4134053" y="0"/>
                  </a:lnTo>
                  <a:lnTo>
                    <a:pt x="4187266" y="12700"/>
                  </a:lnTo>
                  <a:lnTo>
                    <a:pt x="4222699" y="46736"/>
                  </a:lnTo>
                  <a:lnTo>
                    <a:pt x="4230065" y="75692"/>
                  </a:lnTo>
                  <a:lnTo>
                    <a:pt x="4230065" y="4422267"/>
                  </a:lnTo>
                  <a:lnTo>
                    <a:pt x="4222445" y="4451731"/>
                  </a:lnTo>
                  <a:lnTo>
                    <a:pt x="4201871" y="4475734"/>
                  </a:lnTo>
                  <a:lnTo>
                    <a:pt x="4171391" y="4491990"/>
                  </a:lnTo>
                  <a:lnTo>
                    <a:pt x="4134053" y="4497933"/>
                  </a:lnTo>
                  <a:lnTo>
                    <a:pt x="96012" y="4497933"/>
                  </a:lnTo>
                  <a:lnTo>
                    <a:pt x="58635" y="4491990"/>
                  </a:lnTo>
                  <a:lnTo>
                    <a:pt x="28117" y="4475734"/>
                  </a:lnTo>
                  <a:lnTo>
                    <a:pt x="7543" y="4451731"/>
                  </a:lnTo>
                  <a:lnTo>
                    <a:pt x="0" y="4422267"/>
                  </a:lnTo>
                  <a:lnTo>
                    <a:pt x="0" y="75692"/>
                  </a:lnTo>
                  <a:close/>
                </a:path>
              </a:pathLst>
            </a:custGeom>
            <a:ln w="30473">
              <a:solidFill>
                <a:srgbClr val="C5D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0580" y="2476627"/>
              <a:ext cx="4168775" cy="680720"/>
            </a:xfrm>
            <a:custGeom>
              <a:avLst/>
              <a:gdLst/>
              <a:ahLst/>
              <a:cxnLst/>
              <a:rect l="l" t="t" r="r" b="b"/>
              <a:pathLst>
                <a:path w="4168775" h="680719">
                  <a:moveTo>
                    <a:pt x="4093997" y="0"/>
                  </a:moveTo>
                  <a:lnTo>
                    <a:pt x="74447" y="0"/>
                  </a:lnTo>
                  <a:lnTo>
                    <a:pt x="45465" y="4699"/>
                  </a:lnTo>
                  <a:lnTo>
                    <a:pt x="21793" y="17272"/>
                  </a:lnTo>
                  <a:lnTo>
                    <a:pt x="5842" y="35940"/>
                  </a:lnTo>
                  <a:lnTo>
                    <a:pt x="0" y="58674"/>
                  </a:lnTo>
                  <a:lnTo>
                    <a:pt x="0" y="621792"/>
                  </a:lnTo>
                  <a:lnTo>
                    <a:pt x="5842" y="644651"/>
                  </a:lnTo>
                  <a:lnTo>
                    <a:pt x="21793" y="663194"/>
                  </a:lnTo>
                  <a:lnTo>
                    <a:pt x="45465" y="675767"/>
                  </a:lnTo>
                  <a:lnTo>
                    <a:pt x="74447" y="680465"/>
                  </a:lnTo>
                  <a:lnTo>
                    <a:pt x="4093997" y="680465"/>
                  </a:lnTo>
                  <a:lnTo>
                    <a:pt x="4122953" y="675767"/>
                  </a:lnTo>
                  <a:lnTo>
                    <a:pt x="4146575" y="663194"/>
                  </a:lnTo>
                  <a:lnTo>
                    <a:pt x="4162577" y="644651"/>
                  </a:lnTo>
                  <a:lnTo>
                    <a:pt x="4168419" y="621792"/>
                  </a:lnTo>
                  <a:lnTo>
                    <a:pt x="4168419" y="58674"/>
                  </a:lnTo>
                  <a:lnTo>
                    <a:pt x="4146575" y="17272"/>
                  </a:lnTo>
                  <a:lnTo>
                    <a:pt x="4093997" y="0"/>
                  </a:lnTo>
                  <a:close/>
                </a:path>
              </a:pathLst>
            </a:custGeom>
            <a:solidFill>
              <a:srgbClr val="DE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708239" y="3782322"/>
            <a:ext cx="4168775" cy="1787669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500"/>
              </a:spcBef>
            </a:pPr>
            <a:r>
              <a:rPr lang="en-US" sz="2200" spc="-175" dirty="0">
                <a:solidFill>
                  <a:srgbClr val="2C3048"/>
                </a:solidFill>
                <a:latin typeface="Lucida Sans Unicode"/>
                <a:cs typeface="Lucida Sans Unicode"/>
              </a:rPr>
              <a:t> Chinmoy Debnath </a:t>
            </a:r>
            <a:endParaRPr sz="2200" dirty="0">
              <a:latin typeface="Lucida Sans Unicode"/>
              <a:cs typeface="Lucida Sans Unicode"/>
            </a:endParaRPr>
          </a:p>
          <a:p>
            <a:pPr marL="29209" algn="ctr">
              <a:lnSpc>
                <a:spcPct val="100000"/>
              </a:lnSpc>
              <a:spcBef>
                <a:spcPts val="1120"/>
              </a:spcBef>
            </a:pPr>
            <a:r>
              <a:rPr lang="en-US" sz="1750" spc="-10" dirty="0">
                <a:solidFill>
                  <a:srgbClr val="2C3048"/>
                </a:solidFill>
                <a:latin typeface="Arial MT"/>
                <a:cs typeface="Arial MT"/>
              </a:rPr>
              <a:t>     </a:t>
            </a:r>
            <a:r>
              <a:rPr sz="1750" spc="-10" dirty="0">
                <a:solidFill>
                  <a:srgbClr val="2C3048"/>
                </a:solidFill>
                <a:latin typeface="Arial MT"/>
                <a:cs typeface="Arial MT"/>
              </a:rPr>
              <a:t>23190</a:t>
            </a:r>
            <a:r>
              <a:rPr lang="en-US" sz="1750" spc="-10" dirty="0">
                <a:solidFill>
                  <a:srgbClr val="2C3048"/>
                </a:solidFill>
                <a:latin typeface="Arial MT"/>
                <a:cs typeface="Arial MT"/>
              </a:rPr>
              <a:t>2029</a:t>
            </a:r>
          </a:p>
          <a:p>
            <a:pPr marL="29209" algn="ctr">
              <a:lnSpc>
                <a:spcPct val="100000"/>
              </a:lnSpc>
              <a:spcBef>
                <a:spcPts val="1120"/>
              </a:spcBef>
            </a:pPr>
            <a:r>
              <a:rPr lang="en-US" sz="1750" spc="45" dirty="0">
                <a:solidFill>
                  <a:srgbClr val="2C3048"/>
                </a:solidFill>
                <a:latin typeface="Arial MT"/>
                <a:cs typeface="Arial MT"/>
              </a:rPr>
              <a:t>       Dept of CSE</a:t>
            </a:r>
            <a:endParaRPr sz="1750" dirty="0">
              <a:latin typeface="Arial MT"/>
              <a:cs typeface="Arial MT"/>
            </a:endParaRPr>
          </a:p>
          <a:p>
            <a:pPr marL="29209" algn="ctr">
              <a:lnSpc>
                <a:spcPct val="100000"/>
              </a:lnSpc>
              <a:spcBef>
                <a:spcPts val="1295"/>
              </a:spcBef>
            </a:pPr>
            <a:r>
              <a:rPr lang="en-US" sz="1750" dirty="0">
                <a:solidFill>
                  <a:srgbClr val="2C3048"/>
                </a:solidFill>
                <a:latin typeface="Arial MT"/>
                <a:cs typeface="Arial MT"/>
              </a:rPr>
              <a:t>   </a:t>
            </a:r>
            <a:r>
              <a:rPr sz="1750" dirty="0">
                <a:solidFill>
                  <a:srgbClr val="2C3048"/>
                </a:solidFill>
                <a:latin typeface="Arial MT"/>
                <a:cs typeface="Arial MT"/>
              </a:rPr>
              <a:t>Green</a:t>
            </a:r>
            <a:r>
              <a:rPr sz="1750" spc="-50" dirty="0">
                <a:solidFill>
                  <a:srgbClr val="2C3048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C3048"/>
                </a:solidFill>
                <a:latin typeface="Arial MT"/>
                <a:cs typeface="Arial MT"/>
              </a:rPr>
              <a:t>University</a:t>
            </a:r>
            <a:r>
              <a:rPr sz="1750" spc="-35" dirty="0">
                <a:solidFill>
                  <a:srgbClr val="2C3048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C3048"/>
                </a:solidFill>
                <a:latin typeface="Arial MT"/>
                <a:cs typeface="Arial MT"/>
              </a:rPr>
              <a:t>of</a:t>
            </a:r>
            <a:r>
              <a:rPr sz="1750" spc="-40" dirty="0">
                <a:solidFill>
                  <a:srgbClr val="2C3048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C3048"/>
                </a:solidFill>
                <a:latin typeface="Arial MT"/>
                <a:cs typeface="Arial MT"/>
              </a:rPr>
              <a:t>Bangladesh</a:t>
            </a:r>
            <a:endParaRPr sz="1750" dirty="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249400" y="7828534"/>
            <a:ext cx="5448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2C3048"/>
                </a:solidFill>
                <a:latin typeface="Arial"/>
                <a:cs typeface="Arial"/>
              </a:rPr>
              <a:t>2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40171" y="7830460"/>
            <a:ext cx="8199629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dirty="0" err="1"/>
              <a:t>SentinelShield</a:t>
            </a:r>
            <a:r>
              <a:rPr lang="en-US" dirty="0"/>
              <a:t>: Advanced Linux Security Hardening &amp; Threat Audit Framework</a:t>
            </a:r>
            <a:endParaRPr lang="en-US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dirty="0">
              <a:latin typeface="Calibri"/>
              <a:cs typeface="Calibri"/>
            </a:endParaRPr>
          </a:p>
        </p:txBody>
      </p:sp>
      <p:pic>
        <p:nvPicPr>
          <p:cNvPr id="21" name="object 6">
            <a:extLst>
              <a:ext uri="{FF2B5EF4-FFF2-40B4-BE49-F238E27FC236}">
                <a16:creationId xmlns:a16="http://schemas.microsoft.com/office/drawing/2014/main" id="{6B1601E4-DBE1-66A6-3DBD-A42117D27FC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4052" y="3244207"/>
            <a:ext cx="337070" cy="3401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DA78A0-B4A0-07DD-72EC-C763140FF0CF}"/>
              </a:ext>
            </a:extLst>
          </p:cNvPr>
          <p:cNvSpPr txBox="1"/>
          <p:nvPr/>
        </p:nvSpPr>
        <p:spPr>
          <a:xfrm>
            <a:off x="168271" y="7750951"/>
            <a:ext cx="754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0" dirty="0">
                <a:solidFill>
                  <a:srgbClr val="2C3048"/>
                </a:solidFill>
                <a:latin typeface="+mn-lt"/>
                <a:cs typeface="Arial"/>
              </a:rPr>
              <a:t>12/25/2025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4343400" y="685801"/>
            <a:ext cx="17602200" cy="1075678"/>
          </a:xfrm>
          <a:prstGeom prst="rect">
            <a:avLst/>
          </a:prstGeom>
        </p:spPr>
        <p:txBody>
          <a:bodyPr vert="horz" wrap="square" lIns="0" tIns="196595" rIns="0" bIns="0" rtlCol="0">
            <a:spAutoFit/>
          </a:bodyPr>
          <a:lstStyle/>
          <a:p>
            <a:pPr marL="5509895" marR="5080" algn="ctr">
              <a:lnSpc>
                <a:spcPct val="125099"/>
              </a:lnSpc>
              <a:spcBef>
                <a:spcPts val="100"/>
              </a:spcBef>
            </a:pPr>
            <a:r>
              <a:rPr lang="en-US" sz="4800" dirty="0"/>
              <a:t>Why </a:t>
            </a:r>
            <a:r>
              <a:rPr lang="en-US" sz="4800" dirty="0" err="1"/>
              <a:t>SentinelShield</a:t>
            </a:r>
            <a:r>
              <a:rPr lang="en-US" sz="4800" dirty="0"/>
              <a:t>?</a:t>
            </a:r>
            <a:endParaRPr sz="4800" spc="-10" dirty="0"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11"/>
          </p:nvPr>
        </p:nvSpPr>
        <p:spPr>
          <a:xfrm>
            <a:off x="3581400" y="7798688"/>
            <a:ext cx="8418830" cy="464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9605" algn="ctr">
              <a:lnSpc>
                <a:spcPts val="1810"/>
              </a:lnSpc>
            </a:pPr>
            <a:r>
              <a:rPr lang="en-US" sz="1800" dirty="0" err="1"/>
              <a:t>SentinelShield</a:t>
            </a:r>
            <a:r>
              <a:rPr lang="en-US" sz="1800" dirty="0"/>
              <a:t>: Advanced Linux Security Hardening &amp; Threat Audit Framework</a:t>
            </a:r>
          </a:p>
          <a:p>
            <a:pPr marL="649605" algn="ctr">
              <a:lnSpc>
                <a:spcPts val="1810"/>
              </a:lnSpc>
            </a:pPr>
            <a:endParaRPr sz="1800" spc="-1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xfrm>
            <a:off x="14164387" y="7808347"/>
            <a:ext cx="240665" cy="287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0" y="2200614"/>
            <a:ext cx="14527474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1400" dirty="0"/>
              <a:t>Linux systems are often misconfigured</a:t>
            </a:r>
            <a:r>
              <a:rPr lang="en-US" sz="1300" dirty="0">
                <a:latin typeface="Arial MT"/>
              </a:rPr>
              <a:t> .</a:t>
            </a:r>
            <a:r>
              <a:rPr lang="en-US" sz="1400" dirty="0"/>
              <a:t>An automated, policy-based, safe security framework.</a:t>
            </a:r>
            <a:r>
              <a:rPr sz="1300" spc="-10" dirty="0">
                <a:solidFill>
                  <a:srgbClr val="2C3048"/>
                </a:solidFill>
                <a:latin typeface="Arial MT"/>
                <a:cs typeface="Arial MT"/>
              </a:rPr>
              <a:t>.</a:t>
            </a:r>
            <a:endParaRPr sz="1300"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46347" y="3243694"/>
            <a:ext cx="4415789" cy="2810276"/>
            <a:chOff x="6061583" y="2560573"/>
            <a:chExt cx="3923029" cy="1926589"/>
          </a:xfrm>
        </p:grpSpPr>
        <p:sp>
          <p:nvSpPr>
            <p:cNvPr id="6" name="object 6"/>
            <p:cNvSpPr/>
            <p:nvPr/>
          </p:nvSpPr>
          <p:spPr>
            <a:xfrm>
              <a:off x="6084443" y="2572003"/>
              <a:ext cx="3888740" cy="1903730"/>
            </a:xfrm>
            <a:custGeom>
              <a:avLst/>
              <a:gdLst/>
              <a:ahLst/>
              <a:cxnLst/>
              <a:rect l="l" t="t" r="r" b="b"/>
              <a:pathLst>
                <a:path w="3888740" h="1903729">
                  <a:moveTo>
                    <a:pt x="0" y="109728"/>
                  </a:moveTo>
                  <a:lnTo>
                    <a:pt x="8636" y="67056"/>
                  </a:lnTo>
                  <a:lnTo>
                    <a:pt x="32131" y="32131"/>
                  </a:lnTo>
                  <a:lnTo>
                    <a:pt x="67056" y="8636"/>
                  </a:lnTo>
                  <a:lnTo>
                    <a:pt x="109728" y="0"/>
                  </a:lnTo>
                  <a:lnTo>
                    <a:pt x="3778758" y="0"/>
                  </a:lnTo>
                  <a:lnTo>
                    <a:pt x="3820667" y="8382"/>
                  </a:lnTo>
                  <a:lnTo>
                    <a:pt x="3856355" y="32131"/>
                  </a:lnTo>
                  <a:lnTo>
                    <a:pt x="3880104" y="67691"/>
                  </a:lnTo>
                  <a:lnTo>
                    <a:pt x="3888486" y="109728"/>
                  </a:lnTo>
                  <a:lnTo>
                    <a:pt x="3888486" y="1794002"/>
                  </a:lnTo>
                  <a:lnTo>
                    <a:pt x="3879850" y="1836801"/>
                  </a:lnTo>
                  <a:lnTo>
                    <a:pt x="3856355" y="1871599"/>
                  </a:lnTo>
                  <a:lnTo>
                    <a:pt x="3821430" y="1895221"/>
                  </a:lnTo>
                  <a:lnTo>
                    <a:pt x="3778758" y="1903730"/>
                  </a:lnTo>
                  <a:lnTo>
                    <a:pt x="109728" y="1903730"/>
                  </a:lnTo>
                  <a:lnTo>
                    <a:pt x="67056" y="1895221"/>
                  </a:lnTo>
                  <a:lnTo>
                    <a:pt x="32131" y="1871599"/>
                  </a:lnTo>
                  <a:lnTo>
                    <a:pt x="8636" y="1836801"/>
                  </a:lnTo>
                  <a:lnTo>
                    <a:pt x="0" y="1794002"/>
                  </a:lnTo>
                  <a:lnTo>
                    <a:pt x="0" y="109728"/>
                  </a:lnTo>
                  <a:close/>
                </a:path>
              </a:pathLst>
            </a:custGeom>
            <a:ln w="22848">
              <a:solidFill>
                <a:srgbClr val="C5D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61583" y="2572003"/>
              <a:ext cx="91440" cy="1903730"/>
            </a:xfrm>
            <a:custGeom>
              <a:avLst/>
              <a:gdLst/>
              <a:ahLst/>
              <a:cxnLst/>
              <a:rect l="l" t="t" r="r" b="b"/>
              <a:pathLst>
                <a:path w="91439" h="1903729">
                  <a:moveTo>
                    <a:pt x="45719" y="0"/>
                  </a:moveTo>
                  <a:lnTo>
                    <a:pt x="28066" y="3429"/>
                  </a:lnTo>
                  <a:lnTo>
                    <a:pt x="13334" y="13335"/>
                  </a:lnTo>
                  <a:lnTo>
                    <a:pt x="3555" y="27940"/>
                  </a:lnTo>
                  <a:lnTo>
                    <a:pt x="0" y="45720"/>
                  </a:lnTo>
                  <a:lnTo>
                    <a:pt x="0" y="1858010"/>
                  </a:lnTo>
                  <a:lnTo>
                    <a:pt x="3555" y="1875917"/>
                  </a:lnTo>
                  <a:lnTo>
                    <a:pt x="13334" y="1890395"/>
                  </a:lnTo>
                  <a:lnTo>
                    <a:pt x="27939" y="1900174"/>
                  </a:lnTo>
                  <a:lnTo>
                    <a:pt x="45719" y="1903730"/>
                  </a:lnTo>
                  <a:lnTo>
                    <a:pt x="63500" y="1900174"/>
                  </a:lnTo>
                  <a:lnTo>
                    <a:pt x="78104" y="1890395"/>
                  </a:lnTo>
                  <a:lnTo>
                    <a:pt x="87883" y="1875917"/>
                  </a:lnTo>
                  <a:lnTo>
                    <a:pt x="91439" y="1858010"/>
                  </a:lnTo>
                  <a:lnTo>
                    <a:pt x="91439" y="45720"/>
                  </a:lnTo>
                  <a:lnTo>
                    <a:pt x="83819" y="2032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436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902727" y="3612878"/>
            <a:ext cx="3828259" cy="1449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/>
              <a:t>Manual security checking is:</a:t>
            </a:r>
            <a:endParaRPr lang="en-US" sz="2000" dirty="0">
              <a:latin typeface="Lucida Sans Unicode"/>
              <a:cs typeface="Lucida Sans Unicode"/>
            </a:endParaRPr>
          </a:p>
          <a:p>
            <a:pPr marL="355600" marR="5080" indent="-342900">
              <a:lnSpc>
                <a:spcPct val="163800"/>
              </a:lnSpc>
              <a:spcBef>
                <a:spcPts val="260"/>
              </a:spcBef>
              <a:buAutoNum type="arabicPeriod"/>
            </a:pPr>
            <a:r>
              <a:rPr lang="en-US" sz="1400" dirty="0"/>
              <a:t>Time-consuming </a:t>
            </a:r>
          </a:p>
          <a:p>
            <a:pPr marL="355600" marR="5080" indent="-342900">
              <a:lnSpc>
                <a:spcPct val="163800"/>
              </a:lnSpc>
              <a:spcBef>
                <a:spcPts val="260"/>
              </a:spcBef>
              <a:buAutoNum type="arabicPeriod"/>
            </a:pPr>
            <a:r>
              <a:rPr lang="en-US" sz="1400" dirty="0"/>
              <a:t>Error-prone</a:t>
            </a:r>
          </a:p>
          <a:p>
            <a:pPr marL="355600" marR="5080" indent="-342900">
              <a:lnSpc>
                <a:spcPct val="163800"/>
              </a:lnSpc>
              <a:spcBef>
                <a:spcPts val="260"/>
              </a:spcBef>
              <a:buAutoNum type="arabicPeriod"/>
            </a:pPr>
            <a:r>
              <a:rPr lang="en-US" sz="1400" dirty="0"/>
              <a:t>Inconsistent</a:t>
            </a:r>
            <a:endParaRPr sz="1300" dirty="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5348" y="7747217"/>
            <a:ext cx="1150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endParaRPr sz="1800" dirty="0">
              <a:latin typeface="Arial MT"/>
              <a:cs typeface="Arial M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3DEC89-AF92-B264-666B-B318071675E3}"/>
              </a:ext>
            </a:extLst>
          </p:cNvPr>
          <p:cNvSpPr txBox="1"/>
          <p:nvPr/>
        </p:nvSpPr>
        <p:spPr>
          <a:xfrm>
            <a:off x="225348" y="7747217"/>
            <a:ext cx="7426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0" dirty="0">
                <a:solidFill>
                  <a:srgbClr val="2C3048"/>
                </a:solidFill>
                <a:latin typeface="+mn-lt"/>
                <a:cs typeface="Arial"/>
              </a:rPr>
              <a:t>12/25/2025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B9F885-1F03-B80F-CDC6-D7D82B8E2A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575" y="3231088"/>
            <a:ext cx="4200478" cy="28003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" y="838200"/>
            <a:ext cx="14630399" cy="91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5000"/>
              </a:lnSpc>
              <a:spcBef>
                <a:spcPts val="100"/>
              </a:spcBef>
            </a:pPr>
            <a:r>
              <a:rPr lang="en-US" sz="4800" dirty="0"/>
              <a:t>Main Goal?</a:t>
            </a:r>
            <a:endParaRPr sz="4450" dirty="0"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11"/>
          </p:nvPr>
        </p:nvSpPr>
        <p:spPr>
          <a:xfrm>
            <a:off x="3457854" y="7876655"/>
            <a:ext cx="8037830" cy="695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9605" algn="ctr">
              <a:lnSpc>
                <a:spcPts val="1810"/>
              </a:lnSpc>
            </a:pPr>
            <a:r>
              <a:rPr lang="en-US" sz="1800" dirty="0" err="1"/>
              <a:t>SentinelShield</a:t>
            </a:r>
            <a:r>
              <a:rPr lang="en-US" sz="1800" dirty="0"/>
              <a:t>: Advanced Linux Security Hardening &amp; Threat Audit Framework</a:t>
            </a:r>
          </a:p>
          <a:p>
            <a:pPr marL="649605" algn="ctr">
              <a:lnSpc>
                <a:spcPts val="1810"/>
              </a:lnSpc>
            </a:pPr>
            <a:endParaRPr lang="en-US" sz="1800" spc="-10" dirty="0"/>
          </a:p>
          <a:p>
            <a:pPr marL="649605" algn="ctr">
              <a:lnSpc>
                <a:spcPts val="1810"/>
              </a:lnSpc>
            </a:pPr>
            <a:endParaRPr sz="1800" spc="-10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12"/>
          </p:nvPr>
        </p:nvSpPr>
        <p:spPr>
          <a:xfrm>
            <a:off x="14020800" y="7843127"/>
            <a:ext cx="240665" cy="287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0" y="2258571"/>
            <a:ext cx="14630399" cy="2571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To design a </a:t>
            </a:r>
            <a:r>
              <a:rPr lang="en-US" sz="1600" b="1" dirty="0"/>
              <a:t>Bash-based Linux security framework</a:t>
            </a:r>
            <a:r>
              <a:rPr lang="en-US" sz="1600" dirty="0"/>
              <a:t> that can:</a:t>
            </a:r>
            <a:endParaRPr sz="175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0200" y="3159730"/>
            <a:ext cx="5714998" cy="19101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AutoNum type="arabicPeriod"/>
            </a:pPr>
            <a:r>
              <a:rPr lang="en-US" sz="2400" dirty="0"/>
              <a:t>Audit system security</a:t>
            </a: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AutoNum type="arabicPeriod"/>
            </a:pPr>
            <a:r>
              <a:rPr lang="en-US" sz="2400" dirty="0"/>
              <a:t>Validate against security policies</a:t>
            </a: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AutoNum type="arabicPeriod"/>
            </a:pPr>
            <a:r>
              <a:rPr lang="en-US" sz="2400" dirty="0"/>
              <a:t>Safely apply SSH hardening</a:t>
            </a: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AutoNum type="arabicPeriod"/>
            </a:pPr>
            <a:r>
              <a:rPr lang="en-US" sz="2400" dirty="0"/>
              <a:t>Roll back on failure</a:t>
            </a: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AutoNum type="arabicPeriod"/>
            </a:pPr>
            <a:r>
              <a:rPr lang="en-US" sz="2400" dirty="0"/>
              <a:t>Generate security reports with score</a:t>
            </a:r>
            <a:endParaRPr sz="2200" dirty="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5028" y="7793915"/>
            <a:ext cx="1150620" cy="5463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endParaRPr lang="en-US" sz="1800" dirty="0">
              <a:highlight>
                <a:srgbClr val="808080"/>
              </a:highlight>
              <a:latin typeface="Arial MT"/>
              <a:cs typeface="Arial MT"/>
            </a:endParaRPr>
          </a:p>
          <a:p>
            <a:pPr marL="12700">
              <a:lnSpc>
                <a:spcPts val="2090"/>
              </a:lnSpc>
            </a:pPr>
            <a:endParaRPr sz="1800" dirty="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B3B34A-516C-6509-BB1E-39FC007840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198" y="3994283"/>
            <a:ext cx="5027077" cy="33513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3CE32F-5224-FE87-D43C-64586DCB1481}"/>
              </a:ext>
            </a:extLst>
          </p:cNvPr>
          <p:cNvSpPr txBox="1"/>
          <p:nvPr/>
        </p:nvSpPr>
        <p:spPr>
          <a:xfrm>
            <a:off x="210890" y="7835702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0" dirty="0">
                <a:solidFill>
                  <a:srgbClr val="2C3048"/>
                </a:solidFill>
                <a:latin typeface="+mn-lt"/>
                <a:cs typeface="Arial"/>
              </a:rPr>
              <a:t>12/25/2025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-99077"/>
            <a:ext cx="859028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800" dirty="0"/>
              <a:t>Security Workflow!</a:t>
            </a:r>
            <a:endParaRPr sz="4800" spc="-10" dirty="0"/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11"/>
          </p:nvPr>
        </p:nvSpPr>
        <p:spPr>
          <a:xfrm>
            <a:off x="2910547" y="7823790"/>
            <a:ext cx="8382000" cy="986550"/>
          </a:xfrm>
          <a:prstGeom prst="rect">
            <a:avLst/>
          </a:prstGeom>
        </p:spPr>
        <p:txBody>
          <a:bodyPr vert="horz" wrap="square" lIns="0" tIns="59434" rIns="0" bIns="0" rtlCol="0">
            <a:spAutoFit/>
          </a:bodyPr>
          <a:lstStyle/>
          <a:p>
            <a:pPr marL="649605">
              <a:lnSpc>
                <a:spcPts val="1810"/>
              </a:lnSpc>
            </a:pPr>
            <a:r>
              <a:rPr lang="en-US" dirty="0" err="1"/>
              <a:t>SentinelShield</a:t>
            </a:r>
            <a:r>
              <a:rPr lang="en-US" dirty="0"/>
              <a:t>: Advanced Linux Security Hardening &amp; Threat Audit Framework</a:t>
            </a:r>
          </a:p>
          <a:p>
            <a:pPr marL="649605">
              <a:lnSpc>
                <a:spcPts val="1810"/>
              </a:lnSpc>
            </a:pPr>
            <a:endParaRPr lang="en-US" spc="-10" dirty="0"/>
          </a:p>
          <a:p>
            <a:pPr marL="649605">
              <a:lnSpc>
                <a:spcPts val="1810"/>
              </a:lnSpc>
            </a:pPr>
            <a:endParaRPr lang="en-US" spc="-10" dirty="0"/>
          </a:p>
          <a:p>
            <a:pPr marL="12700">
              <a:lnSpc>
                <a:spcPts val="1810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67217" y="984793"/>
            <a:ext cx="12592101" cy="76495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dirty="0">
                <a:latin typeface="Arial MT"/>
                <a:cs typeface="Arial MT"/>
              </a:rPr>
              <a:t>Detect → Validate → Harden → Verify → Report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24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9487" y="1897876"/>
            <a:ext cx="680573" cy="958410"/>
            <a:chOff x="603860" y="1898713"/>
            <a:chExt cx="699770" cy="1057275"/>
          </a:xfrm>
        </p:grpSpPr>
        <p:sp>
          <p:nvSpPr>
            <p:cNvPr id="5" name="object 5"/>
            <p:cNvSpPr/>
            <p:nvPr/>
          </p:nvSpPr>
          <p:spPr>
            <a:xfrm>
              <a:off x="608622" y="1903475"/>
              <a:ext cx="690245" cy="1047750"/>
            </a:xfrm>
            <a:custGeom>
              <a:avLst/>
              <a:gdLst/>
              <a:ahLst/>
              <a:cxnLst/>
              <a:rect l="l" t="t" r="r" b="b"/>
              <a:pathLst>
                <a:path w="690244" h="1047750">
                  <a:moveTo>
                    <a:pt x="344919" y="0"/>
                  </a:moveTo>
                  <a:lnTo>
                    <a:pt x="298119" y="3175"/>
                  </a:lnTo>
                  <a:lnTo>
                    <a:pt x="253225" y="12319"/>
                  </a:lnTo>
                  <a:lnTo>
                    <a:pt x="210667" y="27177"/>
                  </a:lnTo>
                  <a:lnTo>
                    <a:pt x="170840" y="47116"/>
                  </a:lnTo>
                  <a:lnTo>
                    <a:pt x="134150" y="71882"/>
                  </a:lnTo>
                  <a:lnTo>
                    <a:pt x="101028" y="101091"/>
                  </a:lnTo>
                  <a:lnTo>
                    <a:pt x="71869" y="134238"/>
                  </a:lnTo>
                  <a:lnTo>
                    <a:pt x="47091" y="170814"/>
                  </a:lnTo>
                  <a:lnTo>
                    <a:pt x="27101" y="210693"/>
                  </a:lnTo>
                  <a:lnTo>
                    <a:pt x="12318" y="253237"/>
                  </a:lnTo>
                  <a:lnTo>
                    <a:pt x="3149" y="298196"/>
                  </a:lnTo>
                  <a:lnTo>
                    <a:pt x="0" y="344932"/>
                  </a:lnTo>
                  <a:lnTo>
                    <a:pt x="0" y="702690"/>
                  </a:lnTo>
                  <a:lnTo>
                    <a:pt x="3149" y="749553"/>
                  </a:lnTo>
                  <a:lnTo>
                    <a:pt x="12318" y="794385"/>
                  </a:lnTo>
                  <a:lnTo>
                    <a:pt x="27101" y="837057"/>
                  </a:lnTo>
                  <a:lnTo>
                    <a:pt x="47091" y="876808"/>
                  </a:lnTo>
                  <a:lnTo>
                    <a:pt x="71869" y="913511"/>
                  </a:lnTo>
                  <a:lnTo>
                    <a:pt x="101028" y="946658"/>
                  </a:lnTo>
                  <a:lnTo>
                    <a:pt x="134150" y="975740"/>
                  </a:lnTo>
                  <a:lnTo>
                    <a:pt x="170840" y="1000633"/>
                  </a:lnTo>
                  <a:lnTo>
                    <a:pt x="210667" y="1020572"/>
                  </a:lnTo>
                  <a:lnTo>
                    <a:pt x="253225" y="1035303"/>
                  </a:lnTo>
                  <a:lnTo>
                    <a:pt x="298119" y="1044575"/>
                  </a:lnTo>
                  <a:lnTo>
                    <a:pt x="344919" y="1047623"/>
                  </a:lnTo>
                  <a:lnTo>
                    <a:pt x="391731" y="1044575"/>
                  </a:lnTo>
                  <a:lnTo>
                    <a:pt x="436613" y="1035303"/>
                  </a:lnTo>
                  <a:lnTo>
                    <a:pt x="479183" y="1020572"/>
                  </a:lnTo>
                  <a:lnTo>
                    <a:pt x="519010" y="1000633"/>
                  </a:lnTo>
                  <a:lnTo>
                    <a:pt x="555701" y="975740"/>
                  </a:lnTo>
                  <a:lnTo>
                    <a:pt x="588822" y="946658"/>
                  </a:lnTo>
                  <a:lnTo>
                    <a:pt x="617982" y="913511"/>
                  </a:lnTo>
                  <a:lnTo>
                    <a:pt x="642759" y="876808"/>
                  </a:lnTo>
                  <a:lnTo>
                    <a:pt x="662774" y="837057"/>
                  </a:lnTo>
                  <a:lnTo>
                    <a:pt x="677506" y="794385"/>
                  </a:lnTo>
                  <a:lnTo>
                    <a:pt x="686650" y="749553"/>
                  </a:lnTo>
                  <a:lnTo>
                    <a:pt x="689825" y="702690"/>
                  </a:lnTo>
                  <a:lnTo>
                    <a:pt x="689825" y="344932"/>
                  </a:lnTo>
                  <a:lnTo>
                    <a:pt x="685507" y="290702"/>
                  </a:lnTo>
                  <a:lnTo>
                    <a:pt x="672934" y="238251"/>
                  </a:lnTo>
                  <a:lnTo>
                    <a:pt x="652322" y="188468"/>
                  </a:lnTo>
                  <a:lnTo>
                    <a:pt x="624166" y="142494"/>
                  </a:lnTo>
                  <a:lnTo>
                    <a:pt x="588822" y="101091"/>
                  </a:lnTo>
                  <a:lnTo>
                    <a:pt x="547395" y="65659"/>
                  </a:lnTo>
                  <a:lnTo>
                    <a:pt x="501370" y="37591"/>
                  </a:lnTo>
                  <a:lnTo>
                    <a:pt x="451662" y="17018"/>
                  </a:lnTo>
                  <a:lnTo>
                    <a:pt x="399211" y="4318"/>
                  </a:lnTo>
                  <a:lnTo>
                    <a:pt x="344919" y="0"/>
                  </a:lnTo>
                  <a:close/>
                </a:path>
              </a:pathLst>
            </a:custGeom>
            <a:solidFill>
              <a:srgbClr val="DE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8622" y="1903475"/>
              <a:ext cx="690245" cy="1047750"/>
            </a:xfrm>
            <a:custGeom>
              <a:avLst/>
              <a:gdLst/>
              <a:ahLst/>
              <a:cxnLst/>
              <a:rect l="l" t="t" r="r" b="b"/>
              <a:pathLst>
                <a:path w="690244" h="1047750">
                  <a:moveTo>
                    <a:pt x="0" y="344932"/>
                  </a:moveTo>
                  <a:lnTo>
                    <a:pt x="3149" y="298196"/>
                  </a:lnTo>
                  <a:lnTo>
                    <a:pt x="12318" y="253237"/>
                  </a:lnTo>
                  <a:lnTo>
                    <a:pt x="27101" y="210693"/>
                  </a:lnTo>
                  <a:lnTo>
                    <a:pt x="47091" y="170814"/>
                  </a:lnTo>
                  <a:lnTo>
                    <a:pt x="71869" y="134238"/>
                  </a:lnTo>
                  <a:lnTo>
                    <a:pt x="101028" y="101091"/>
                  </a:lnTo>
                  <a:lnTo>
                    <a:pt x="134150" y="71882"/>
                  </a:lnTo>
                  <a:lnTo>
                    <a:pt x="170840" y="47116"/>
                  </a:lnTo>
                  <a:lnTo>
                    <a:pt x="210667" y="27177"/>
                  </a:lnTo>
                  <a:lnTo>
                    <a:pt x="253225" y="12319"/>
                  </a:lnTo>
                  <a:lnTo>
                    <a:pt x="298119" y="3175"/>
                  </a:lnTo>
                  <a:lnTo>
                    <a:pt x="344919" y="0"/>
                  </a:lnTo>
                  <a:lnTo>
                    <a:pt x="399211" y="4318"/>
                  </a:lnTo>
                  <a:lnTo>
                    <a:pt x="451662" y="17018"/>
                  </a:lnTo>
                  <a:lnTo>
                    <a:pt x="501370" y="37591"/>
                  </a:lnTo>
                  <a:lnTo>
                    <a:pt x="547395" y="65659"/>
                  </a:lnTo>
                  <a:lnTo>
                    <a:pt x="588822" y="101091"/>
                  </a:lnTo>
                  <a:lnTo>
                    <a:pt x="624166" y="142494"/>
                  </a:lnTo>
                  <a:lnTo>
                    <a:pt x="652322" y="188468"/>
                  </a:lnTo>
                  <a:lnTo>
                    <a:pt x="672934" y="238251"/>
                  </a:lnTo>
                  <a:lnTo>
                    <a:pt x="685507" y="290702"/>
                  </a:lnTo>
                  <a:lnTo>
                    <a:pt x="689825" y="344932"/>
                  </a:lnTo>
                  <a:lnTo>
                    <a:pt x="689825" y="702690"/>
                  </a:lnTo>
                  <a:lnTo>
                    <a:pt x="686650" y="749553"/>
                  </a:lnTo>
                  <a:lnTo>
                    <a:pt x="677506" y="794385"/>
                  </a:lnTo>
                  <a:lnTo>
                    <a:pt x="662774" y="837057"/>
                  </a:lnTo>
                  <a:lnTo>
                    <a:pt x="642759" y="876808"/>
                  </a:lnTo>
                  <a:lnTo>
                    <a:pt x="617982" y="913511"/>
                  </a:lnTo>
                  <a:lnTo>
                    <a:pt x="588822" y="946658"/>
                  </a:lnTo>
                  <a:lnTo>
                    <a:pt x="555701" y="975740"/>
                  </a:lnTo>
                  <a:lnTo>
                    <a:pt x="519010" y="1000633"/>
                  </a:lnTo>
                  <a:lnTo>
                    <a:pt x="479183" y="1020572"/>
                  </a:lnTo>
                  <a:lnTo>
                    <a:pt x="436613" y="1035303"/>
                  </a:lnTo>
                  <a:lnTo>
                    <a:pt x="391731" y="1044575"/>
                  </a:lnTo>
                  <a:lnTo>
                    <a:pt x="344919" y="1047623"/>
                  </a:lnTo>
                  <a:lnTo>
                    <a:pt x="298119" y="1044575"/>
                  </a:lnTo>
                  <a:lnTo>
                    <a:pt x="253225" y="1035303"/>
                  </a:lnTo>
                  <a:lnTo>
                    <a:pt x="210667" y="1020572"/>
                  </a:lnTo>
                  <a:lnTo>
                    <a:pt x="170840" y="1000633"/>
                  </a:lnTo>
                  <a:lnTo>
                    <a:pt x="134150" y="975740"/>
                  </a:lnTo>
                  <a:lnTo>
                    <a:pt x="101028" y="946658"/>
                  </a:lnTo>
                  <a:lnTo>
                    <a:pt x="71869" y="913511"/>
                  </a:lnTo>
                  <a:lnTo>
                    <a:pt x="47091" y="876808"/>
                  </a:lnTo>
                  <a:lnTo>
                    <a:pt x="27101" y="837057"/>
                  </a:lnTo>
                  <a:lnTo>
                    <a:pt x="12318" y="794385"/>
                  </a:lnTo>
                  <a:lnTo>
                    <a:pt x="3149" y="749553"/>
                  </a:lnTo>
                  <a:lnTo>
                    <a:pt x="0" y="702690"/>
                  </a:lnTo>
                  <a:lnTo>
                    <a:pt x="0" y="344932"/>
                  </a:lnTo>
                  <a:close/>
                </a:path>
              </a:pathLst>
            </a:custGeom>
            <a:ln w="9523">
              <a:solidFill>
                <a:srgbClr val="C5D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81794" y="2218151"/>
            <a:ext cx="1866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2C3048"/>
                </a:solidFill>
                <a:latin typeface="Lucida Sans Unicode"/>
                <a:cs typeface="Lucida Sans Unicode"/>
              </a:rPr>
              <a:t>1</a:t>
            </a:r>
            <a:endParaRPr sz="2000" dirty="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93803" y="2100098"/>
            <a:ext cx="5103495" cy="536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/>
              <a:t>Detect</a:t>
            </a:r>
            <a:endParaRPr sz="20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n-US" sz="1400" dirty="0"/>
              <a:t>Find risky configurations</a:t>
            </a:r>
            <a:r>
              <a:rPr sz="1350" spc="-10" dirty="0">
                <a:solidFill>
                  <a:srgbClr val="2C3048"/>
                </a:solidFill>
                <a:latin typeface="Arial MT"/>
                <a:cs typeface="Arial MT"/>
              </a:rPr>
              <a:t>.</a:t>
            </a:r>
            <a:endParaRPr sz="1350" dirty="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98795" y="2984455"/>
            <a:ext cx="730363" cy="967123"/>
            <a:chOff x="598881" y="3043365"/>
            <a:chExt cx="699770" cy="1057275"/>
          </a:xfrm>
        </p:grpSpPr>
        <p:sp>
          <p:nvSpPr>
            <p:cNvPr id="10" name="object 10"/>
            <p:cNvSpPr/>
            <p:nvPr/>
          </p:nvSpPr>
          <p:spPr>
            <a:xfrm>
              <a:off x="603643" y="3048127"/>
              <a:ext cx="690245" cy="1047750"/>
            </a:xfrm>
            <a:custGeom>
              <a:avLst/>
              <a:gdLst/>
              <a:ahLst/>
              <a:cxnLst/>
              <a:rect l="l" t="t" r="r" b="b"/>
              <a:pathLst>
                <a:path w="690244" h="1047750">
                  <a:moveTo>
                    <a:pt x="344932" y="0"/>
                  </a:moveTo>
                  <a:lnTo>
                    <a:pt x="298119" y="3175"/>
                  </a:lnTo>
                  <a:lnTo>
                    <a:pt x="253238" y="12319"/>
                  </a:lnTo>
                  <a:lnTo>
                    <a:pt x="210667" y="27050"/>
                  </a:lnTo>
                  <a:lnTo>
                    <a:pt x="170840" y="47117"/>
                  </a:lnTo>
                  <a:lnTo>
                    <a:pt x="134150" y="71882"/>
                  </a:lnTo>
                  <a:lnTo>
                    <a:pt x="101028" y="100964"/>
                  </a:lnTo>
                  <a:lnTo>
                    <a:pt x="71869" y="134112"/>
                  </a:lnTo>
                  <a:lnTo>
                    <a:pt x="47091" y="170814"/>
                  </a:lnTo>
                  <a:lnTo>
                    <a:pt x="27114" y="210693"/>
                  </a:lnTo>
                  <a:lnTo>
                    <a:pt x="12318" y="253237"/>
                  </a:lnTo>
                  <a:lnTo>
                    <a:pt x="3149" y="298069"/>
                  </a:lnTo>
                  <a:lnTo>
                    <a:pt x="0" y="344932"/>
                  </a:lnTo>
                  <a:lnTo>
                    <a:pt x="0" y="702690"/>
                  </a:lnTo>
                  <a:lnTo>
                    <a:pt x="3149" y="749553"/>
                  </a:lnTo>
                  <a:lnTo>
                    <a:pt x="12318" y="794385"/>
                  </a:lnTo>
                  <a:lnTo>
                    <a:pt x="27114" y="836930"/>
                  </a:lnTo>
                  <a:lnTo>
                    <a:pt x="47091" y="876808"/>
                  </a:lnTo>
                  <a:lnTo>
                    <a:pt x="71869" y="913511"/>
                  </a:lnTo>
                  <a:lnTo>
                    <a:pt x="101028" y="946658"/>
                  </a:lnTo>
                  <a:lnTo>
                    <a:pt x="134150" y="975740"/>
                  </a:lnTo>
                  <a:lnTo>
                    <a:pt x="170840" y="1000506"/>
                  </a:lnTo>
                  <a:lnTo>
                    <a:pt x="210667" y="1020572"/>
                  </a:lnTo>
                  <a:lnTo>
                    <a:pt x="253238" y="1035303"/>
                  </a:lnTo>
                  <a:lnTo>
                    <a:pt x="298119" y="1044448"/>
                  </a:lnTo>
                  <a:lnTo>
                    <a:pt x="344932" y="1047623"/>
                  </a:lnTo>
                  <a:lnTo>
                    <a:pt x="391731" y="1044448"/>
                  </a:lnTo>
                  <a:lnTo>
                    <a:pt x="436626" y="1035303"/>
                  </a:lnTo>
                  <a:lnTo>
                    <a:pt x="479183" y="1020572"/>
                  </a:lnTo>
                  <a:lnTo>
                    <a:pt x="519010" y="1000506"/>
                  </a:lnTo>
                  <a:lnTo>
                    <a:pt x="555701" y="975740"/>
                  </a:lnTo>
                  <a:lnTo>
                    <a:pt x="588822" y="946658"/>
                  </a:lnTo>
                  <a:lnTo>
                    <a:pt x="617982" y="913511"/>
                  </a:lnTo>
                  <a:lnTo>
                    <a:pt x="642759" y="876808"/>
                  </a:lnTo>
                  <a:lnTo>
                    <a:pt x="662749" y="836930"/>
                  </a:lnTo>
                  <a:lnTo>
                    <a:pt x="677532" y="794385"/>
                  </a:lnTo>
                  <a:lnTo>
                    <a:pt x="686676" y="749553"/>
                  </a:lnTo>
                  <a:lnTo>
                    <a:pt x="689851" y="702690"/>
                  </a:lnTo>
                  <a:lnTo>
                    <a:pt x="689851" y="344932"/>
                  </a:lnTo>
                  <a:lnTo>
                    <a:pt x="685533" y="290575"/>
                  </a:lnTo>
                  <a:lnTo>
                    <a:pt x="672960" y="238125"/>
                  </a:lnTo>
                  <a:lnTo>
                    <a:pt x="652335" y="188468"/>
                  </a:lnTo>
                  <a:lnTo>
                    <a:pt x="624166" y="142494"/>
                  </a:lnTo>
                  <a:lnTo>
                    <a:pt x="588822" y="100964"/>
                  </a:lnTo>
                  <a:lnTo>
                    <a:pt x="547408" y="65659"/>
                  </a:lnTo>
                  <a:lnTo>
                    <a:pt x="501370" y="37464"/>
                  </a:lnTo>
                  <a:lnTo>
                    <a:pt x="451662" y="16890"/>
                  </a:lnTo>
                  <a:lnTo>
                    <a:pt x="399211" y="4318"/>
                  </a:lnTo>
                  <a:lnTo>
                    <a:pt x="344932" y="0"/>
                  </a:lnTo>
                  <a:close/>
                </a:path>
              </a:pathLst>
            </a:custGeom>
            <a:solidFill>
              <a:srgbClr val="DE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3643" y="3048127"/>
              <a:ext cx="690245" cy="1047750"/>
            </a:xfrm>
            <a:custGeom>
              <a:avLst/>
              <a:gdLst/>
              <a:ahLst/>
              <a:cxnLst/>
              <a:rect l="l" t="t" r="r" b="b"/>
              <a:pathLst>
                <a:path w="690244" h="1047750">
                  <a:moveTo>
                    <a:pt x="0" y="344932"/>
                  </a:moveTo>
                  <a:lnTo>
                    <a:pt x="3149" y="298069"/>
                  </a:lnTo>
                  <a:lnTo>
                    <a:pt x="12318" y="253237"/>
                  </a:lnTo>
                  <a:lnTo>
                    <a:pt x="27114" y="210693"/>
                  </a:lnTo>
                  <a:lnTo>
                    <a:pt x="47091" y="170814"/>
                  </a:lnTo>
                  <a:lnTo>
                    <a:pt x="71869" y="134112"/>
                  </a:lnTo>
                  <a:lnTo>
                    <a:pt x="101028" y="100964"/>
                  </a:lnTo>
                  <a:lnTo>
                    <a:pt x="134150" y="71882"/>
                  </a:lnTo>
                  <a:lnTo>
                    <a:pt x="170840" y="47117"/>
                  </a:lnTo>
                  <a:lnTo>
                    <a:pt x="210667" y="27050"/>
                  </a:lnTo>
                  <a:lnTo>
                    <a:pt x="253238" y="12319"/>
                  </a:lnTo>
                  <a:lnTo>
                    <a:pt x="298119" y="3175"/>
                  </a:lnTo>
                  <a:lnTo>
                    <a:pt x="344932" y="0"/>
                  </a:lnTo>
                  <a:lnTo>
                    <a:pt x="399211" y="4318"/>
                  </a:lnTo>
                  <a:lnTo>
                    <a:pt x="451662" y="16890"/>
                  </a:lnTo>
                  <a:lnTo>
                    <a:pt x="501370" y="37464"/>
                  </a:lnTo>
                  <a:lnTo>
                    <a:pt x="547408" y="65659"/>
                  </a:lnTo>
                  <a:lnTo>
                    <a:pt x="588822" y="100964"/>
                  </a:lnTo>
                  <a:lnTo>
                    <a:pt x="624166" y="142494"/>
                  </a:lnTo>
                  <a:lnTo>
                    <a:pt x="652335" y="188468"/>
                  </a:lnTo>
                  <a:lnTo>
                    <a:pt x="672960" y="238125"/>
                  </a:lnTo>
                  <a:lnTo>
                    <a:pt x="685533" y="290575"/>
                  </a:lnTo>
                  <a:lnTo>
                    <a:pt x="689851" y="344932"/>
                  </a:lnTo>
                  <a:lnTo>
                    <a:pt x="689851" y="702690"/>
                  </a:lnTo>
                  <a:lnTo>
                    <a:pt x="686676" y="749553"/>
                  </a:lnTo>
                  <a:lnTo>
                    <a:pt x="677532" y="794385"/>
                  </a:lnTo>
                  <a:lnTo>
                    <a:pt x="662749" y="836930"/>
                  </a:lnTo>
                  <a:lnTo>
                    <a:pt x="642759" y="876808"/>
                  </a:lnTo>
                  <a:lnTo>
                    <a:pt x="617982" y="913511"/>
                  </a:lnTo>
                  <a:lnTo>
                    <a:pt x="588822" y="946658"/>
                  </a:lnTo>
                  <a:lnTo>
                    <a:pt x="555701" y="975740"/>
                  </a:lnTo>
                  <a:lnTo>
                    <a:pt x="519010" y="1000506"/>
                  </a:lnTo>
                  <a:lnTo>
                    <a:pt x="479183" y="1020572"/>
                  </a:lnTo>
                  <a:lnTo>
                    <a:pt x="436626" y="1035303"/>
                  </a:lnTo>
                  <a:lnTo>
                    <a:pt x="391731" y="1044448"/>
                  </a:lnTo>
                  <a:lnTo>
                    <a:pt x="344932" y="1047623"/>
                  </a:lnTo>
                  <a:lnTo>
                    <a:pt x="298119" y="1044448"/>
                  </a:lnTo>
                  <a:lnTo>
                    <a:pt x="253238" y="1035303"/>
                  </a:lnTo>
                  <a:lnTo>
                    <a:pt x="210667" y="1020572"/>
                  </a:lnTo>
                  <a:lnTo>
                    <a:pt x="170840" y="1000506"/>
                  </a:lnTo>
                  <a:lnTo>
                    <a:pt x="134150" y="975740"/>
                  </a:lnTo>
                  <a:lnTo>
                    <a:pt x="101028" y="946658"/>
                  </a:lnTo>
                  <a:lnTo>
                    <a:pt x="71869" y="913511"/>
                  </a:lnTo>
                  <a:lnTo>
                    <a:pt x="47091" y="876808"/>
                  </a:lnTo>
                  <a:lnTo>
                    <a:pt x="27114" y="836930"/>
                  </a:lnTo>
                  <a:lnTo>
                    <a:pt x="12318" y="794385"/>
                  </a:lnTo>
                  <a:lnTo>
                    <a:pt x="3149" y="749553"/>
                  </a:lnTo>
                  <a:lnTo>
                    <a:pt x="0" y="702690"/>
                  </a:lnTo>
                  <a:lnTo>
                    <a:pt x="0" y="344932"/>
                  </a:lnTo>
                  <a:close/>
                </a:path>
              </a:pathLst>
            </a:custGeom>
            <a:ln w="9523">
              <a:solidFill>
                <a:srgbClr val="C5D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93138" y="3369627"/>
            <a:ext cx="1866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2C3048"/>
                </a:solidFill>
                <a:latin typeface="Lucida Sans Unicode"/>
                <a:cs typeface="Lucida Sans Unicode"/>
              </a:rPr>
              <a:t>2</a:t>
            </a:r>
            <a:endParaRPr sz="2000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45904" y="3275753"/>
            <a:ext cx="5582285" cy="7033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/>
              <a:t>Validate</a:t>
            </a:r>
            <a:endParaRPr sz="20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lang="en-US" sz="1400" dirty="0"/>
              <a:t>Compare with policy (INI)</a:t>
            </a:r>
            <a:r>
              <a:rPr sz="1350" spc="-10" dirty="0">
                <a:solidFill>
                  <a:srgbClr val="2C3048"/>
                </a:solidFill>
                <a:latin typeface="Arial MT"/>
                <a:cs typeface="Arial MT"/>
              </a:rPr>
              <a:t>.</a:t>
            </a:r>
            <a:endParaRPr sz="1350" dirty="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03558" y="4273303"/>
            <a:ext cx="690245" cy="1047751"/>
            <a:chOff x="598881" y="4263454"/>
            <a:chExt cx="699770" cy="1057275"/>
          </a:xfrm>
        </p:grpSpPr>
        <p:sp>
          <p:nvSpPr>
            <p:cNvPr id="15" name="object 15"/>
            <p:cNvSpPr/>
            <p:nvPr/>
          </p:nvSpPr>
          <p:spPr>
            <a:xfrm>
              <a:off x="603643" y="4268216"/>
              <a:ext cx="690245" cy="1047750"/>
            </a:xfrm>
            <a:custGeom>
              <a:avLst/>
              <a:gdLst/>
              <a:ahLst/>
              <a:cxnLst/>
              <a:rect l="l" t="t" r="r" b="b"/>
              <a:pathLst>
                <a:path w="690244" h="1047750">
                  <a:moveTo>
                    <a:pt x="344932" y="0"/>
                  </a:moveTo>
                  <a:lnTo>
                    <a:pt x="298119" y="3048"/>
                  </a:lnTo>
                  <a:lnTo>
                    <a:pt x="253238" y="12319"/>
                  </a:lnTo>
                  <a:lnTo>
                    <a:pt x="210667" y="27050"/>
                  </a:lnTo>
                  <a:lnTo>
                    <a:pt x="170840" y="46989"/>
                  </a:lnTo>
                  <a:lnTo>
                    <a:pt x="134150" y="71755"/>
                  </a:lnTo>
                  <a:lnTo>
                    <a:pt x="101028" y="100964"/>
                  </a:lnTo>
                  <a:lnTo>
                    <a:pt x="71869" y="134112"/>
                  </a:lnTo>
                  <a:lnTo>
                    <a:pt x="47091" y="170814"/>
                  </a:lnTo>
                  <a:lnTo>
                    <a:pt x="27114" y="210566"/>
                  </a:lnTo>
                  <a:lnTo>
                    <a:pt x="12318" y="253111"/>
                  </a:lnTo>
                  <a:lnTo>
                    <a:pt x="3149" y="298069"/>
                  </a:lnTo>
                  <a:lnTo>
                    <a:pt x="0" y="344805"/>
                  </a:lnTo>
                  <a:lnTo>
                    <a:pt x="0" y="702691"/>
                  </a:lnTo>
                  <a:lnTo>
                    <a:pt x="3149" y="749427"/>
                  </a:lnTo>
                  <a:lnTo>
                    <a:pt x="12318" y="794385"/>
                  </a:lnTo>
                  <a:lnTo>
                    <a:pt x="27114" y="836930"/>
                  </a:lnTo>
                  <a:lnTo>
                    <a:pt x="47091" y="876681"/>
                  </a:lnTo>
                  <a:lnTo>
                    <a:pt x="71869" y="913384"/>
                  </a:lnTo>
                  <a:lnTo>
                    <a:pt x="101028" y="946531"/>
                  </a:lnTo>
                  <a:lnTo>
                    <a:pt x="134150" y="975741"/>
                  </a:lnTo>
                  <a:lnTo>
                    <a:pt x="170840" y="1000506"/>
                  </a:lnTo>
                  <a:lnTo>
                    <a:pt x="210667" y="1020445"/>
                  </a:lnTo>
                  <a:lnTo>
                    <a:pt x="253238" y="1035304"/>
                  </a:lnTo>
                  <a:lnTo>
                    <a:pt x="298119" y="1044448"/>
                  </a:lnTo>
                  <a:lnTo>
                    <a:pt x="344932" y="1047623"/>
                  </a:lnTo>
                  <a:lnTo>
                    <a:pt x="391731" y="1044448"/>
                  </a:lnTo>
                  <a:lnTo>
                    <a:pt x="436626" y="1035304"/>
                  </a:lnTo>
                  <a:lnTo>
                    <a:pt x="479183" y="1020445"/>
                  </a:lnTo>
                  <a:lnTo>
                    <a:pt x="519010" y="1000506"/>
                  </a:lnTo>
                  <a:lnTo>
                    <a:pt x="555701" y="975741"/>
                  </a:lnTo>
                  <a:lnTo>
                    <a:pt x="588822" y="946531"/>
                  </a:lnTo>
                  <a:lnTo>
                    <a:pt x="617982" y="913384"/>
                  </a:lnTo>
                  <a:lnTo>
                    <a:pt x="642759" y="876681"/>
                  </a:lnTo>
                  <a:lnTo>
                    <a:pt x="662749" y="836930"/>
                  </a:lnTo>
                  <a:lnTo>
                    <a:pt x="677532" y="794385"/>
                  </a:lnTo>
                  <a:lnTo>
                    <a:pt x="686676" y="749427"/>
                  </a:lnTo>
                  <a:lnTo>
                    <a:pt x="689851" y="702691"/>
                  </a:lnTo>
                  <a:lnTo>
                    <a:pt x="689851" y="344805"/>
                  </a:lnTo>
                  <a:lnTo>
                    <a:pt x="685533" y="290575"/>
                  </a:lnTo>
                  <a:lnTo>
                    <a:pt x="672960" y="238125"/>
                  </a:lnTo>
                  <a:lnTo>
                    <a:pt x="652335" y="188468"/>
                  </a:lnTo>
                  <a:lnTo>
                    <a:pt x="624166" y="142367"/>
                  </a:lnTo>
                  <a:lnTo>
                    <a:pt x="588822" y="100964"/>
                  </a:lnTo>
                  <a:lnTo>
                    <a:pt x="547408" y="65659"/>
                  </a:lnTo>
                  <a:lnTo>
                    <a:pt x="501370" y="37464"/>
                  </a:lnTo>
                  <a:lnTo>
                    <a:pt x="451662" y="16891"/>
                  </a:lnTo>
                  <a:lnTo>
                    <a:pt x="399211" y="4191"/>
                  </a:lnTo>
                  <a:lnTo>
                    <a:pt x="344932" y="0"/>
                  </a:lnTo>
                  <a:close/>
                </a:path>
              </a:pathLst>
            </a:custGeom>
            <a:solidFill>
              <a:srgbClr val="DE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3643" y="4268216"/>
              <a:ext cx="690245" cy="1047750"/>
            </a:xfrm>
            <a:custGeom>
              <a:avLst/>
              <a:gdLst/>
              <a:ahLst/>
              <a:cxnLst/>
              <a:rect l="l" t="t" r="r" b="b"/>
              <a:pathLst>
                <a:path w="690244" h="1047750">
                  <a:moveTo>
                    <a:pt x="0" y="344805"/>
                  </a:moveTo>
                  <a:lnTo>
                    <a:pt x="3149" y="298069"/>
                  </a:lnTo>
                  <a:lnTo>
                    <a:pt x="12318" y="253111"/>
                  </a:lnTo>
                  <a:lnTo>
                    <a:pt x="27114" y="210566"/>
                  </a:lnTo>
                  <a:lnTo>
                    <a:pt x="47091" y="170814"/>
                  </a:lnTo>
                  <a:lnTo>
                    <a:pt x="71869" y="134112"/>
                  </a:lnTo>
                  <a:lnTo>
                    <a:pt x="101028" y="100964"/>
                  </a:lnTo>
                  <a:lnTo>
                    <a:pt x="134150" y="71755"/>
                  </a:lnTo>
                  <a:lnTo>
                    <a:pt x="170840" y="46989"/>
                  </a:lnTo>
                  <a:lnTo>
                    <a:pt x="210667" y="27050"/>
                  </a:lnTo>
                  <a:lnTo>
                    <a:pt x="253238" y="12319"/>
                  </a:lnTo>
                  <a:lnTo>
                    <a:pt x="298119" y="3048"/>
                  </a:lnTo>
                  <a:lnTo>
                    <a:pt x="344932" y="0"/>
                  </a:lnTo>
                  <a:lnTo>
                    <a:pt x="399211" y="4191"/>
                  </a:lnTo>
                  <a:lnTo>
                    <a:pt x="451662" y="16891"/>
                  </a:lnTo>
                  <a:lnTo>
                    <a:pt x="501370" y="37464"/>
                  </a:lnTo>
                  <a:lnTo>
                    <a:pt x="547408" y="65659"/>
                  </a:lnTo>
                  <a:lnTo>
                    <a:pt x="588822" y="100964"/>
                  </a:lnTo>
                  <a:lnTo>
                    <a:pt x="624166" y="142367"/>
                  </a:lnTo>
                  <a:lnTo>
                    <a:pt x="652335" y="188468"/>
                  </a:lnTo>
                  <a:lnTo>
                    <a:pt x="672960" y="238125"/>
                  </a:lnTo>
                  <a:lnTo>
                    <a:pt x="685533" y="290575"/>
                  </a:lnTo>
                  <a:lnTo>
                    <a:pt x="689851" y="344805"/>
                  </a:lnTo>
                  <a:lnTo>
                    <a:pt x="689851" y="702691"/>
                  </a:lnTo>
                  <a:lnTo>
                    <a:pt x="686676" y="749427"/>
                  </a:lnTo>
                  <a:lnTo>
                    <a:pt x="677532" y="794385"/>
                  </a:lnTo>
                  <a:lnTo>
                    <a:pt x="662749" y="836930"/>
                  </a:lnTo>
                  <a:lnTo>
                    <a:pt x="642759" y="876681"/>
                  </a:lnTo>
                  <a:lnTo>
                    <a:pt x="617982" y="913384"/>
                  </a:lnTo>
                  <a:lnTo>
                    <a:pt x="588822" y="946531"/>
                  </a:lnTo>
                  <a:lnTo>
                    <a:pt x="555701" y="975741"/>
                  </a:lnTo>
                  <a:lnTo>
                    <a:pt x="519010" y="1000506"/>
                  </a:lnTo>
                  <a:lnTo>
                    <a:pt x="479183" y="1020445"/>
                  </a:lnTo>
                  <a:lnTo>
                    <a:pt x="436626" y="1035304"/>
                  </a:lnTo>
                  <a:lnTo>
                    <a:pt x="391731" y="1044448"/>
                  </a:lnTo>
                  <a:lnTo>
                    <a:pt x="344932" y="1047623"/>
                  </a:lnTo>
                  <a:lnTo>
                    <a:pt x="298119" y="1044448"/>
                  </a:lnTo>
                  <a:lnTo>
                    <a:pt x="253238" y="1035304"/>
                  </a:lnTo>
                  <a:lnTo>
                    <a:pt x="210667" y="1020445"/>
                  </a:lnTo>
                  <a:lnTo>
                    <a:pt x="170840" y="1000506"/>
                  </a:lnTo>
                  <a:lnTo>
                    <a:pt x="134150" y="975741"/>
                  </a:lnTo>
                  <a:lnTo>
                    <a:pt x="101028" y="946531"/>
                  </a:lnTo>
                  <a:lnTo>
                    <a:pt x="71869" y="913384"/>
                  </a:lnTo>
                  <a:lnTo>
                    <a:pt x="47091" y="876681"/>
                  </a:lnTo>
                  <a:lnTo>
                    <a:pt x="27114" y="836930"/>
                  </a:lnTo>
                  <a:lnTo>
                    <a:pt x="12318" y="794385"/>
                  </a:lnTo>
                  <a:lnTo>
                    <a:pt x="3149" y="749427"/>
                  </a:lnTo>
                  <a:lnTo>
                    <a:pt x="0" y="702691"/>
                  </a:lnTo>
                  <a:lnTo>
                    <a:pt x="0" y="344805"/>
                  </a:lnTo>
                  <a:close/>
                </a:path>
              </a:pathLst>
            </a:custGeom>
            <a:ln w="9523">
              <a:solidFill>
                <a:srgbClr val="C5D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86027" y="4594121"/>
            <a:ext cx="1866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2C3048"/>
                </a:solidFill>
                <a:latin typeface="Lucida Sans Unicode"/>
                <a:cs typeface="Lucida Sans Unicode"/>
              </a:rPr>
              <a:t>3</a:t>
            </a:r>
            <a:endParaRPr sz="2000" dirty="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90884" y="4506680"/>
            <a:ext cx="5894705" cy="5495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/>
              <a:t>Harden</a:t>
            </a:r>
            <a:endParaRPr lang="en-US" sz="20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dirty="0"/>
              <a:t>Apply secure settings (safe)</a:t>
            </a:r>
            <a:r>
              <a:rPr sz="1350" spc="-10" dirty="0">
                <a:solidFill>
                  <a:srgbClr val="2C3048"/>
                </a:solidFill>
                <a:latin typeface="Arial MT"/>
                <a:cs typeface="Arial MT"/>
              </a:rPr>
              <a:t>.</a:t>
            </a:r>
            <a:endParaRPr sz="1350" dirty="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98797" y="5428740"/>
            <a:ext cx="689965" cy="914741"/>
            <a:chOff x="598881" y="5483416"/>
            <a:chExt cx="699770" cy="1057275"/>
          </a:xfrm>
        </p:grpSpPr>
        <p:sp>
          <p:nvSpPr>
            <p:cNvPr id="20" name="object 20"/>
            <p:cNvSpPr/>
            <p:nvPr/>
          </p:nvSpPr>
          <p:spPr>
            <a:xfrm>
              <a:off x="603643" y="5488178"/>
              <a:ext cx="690245" cy="1047750"/>
            </a:xfrm>
            <a:custGeom>
              <a:avLst/>
              <a:gdLst/>
              <a:ahLst/>
              <a:cxnLst/>
              <a:rect l="l" t="t" r="r" b="b"/>
              <a:pathLst>
                <a:path w="690244" h="1047750">
                  <a:moveTo>
                    <a:pt x="344932" y="0"/>
                  </a:moveTo>
                  <a:lnTo>
                    <a:pt x="298119" y="3175"/>
                  </a:lnTo>
                  <a:lnTo>
                    <a:pt x="253238" y="12319"/>
                  </a:lnTo>
                  <a:lnTo>
                    <a:pt x="210667" y="27051"/>
                  </a:lnTo>
                  <a:lnTo>
                    <a:pt x="170840" y="47117"/>
                  </a:lnTo>
                  <a:lnTo>
                    <a:pt x="134150" y="71882"/>
                  </a:lnTo>
                  <a:lnTo>
                    <a:pt x="101028" y="101092"/>
                  </a:lnTo>
                  <a:lnTo>
                    <a:pt x="71869" y="134112"/>
                  </a:lnTo>
                  <a:lnTo>
                    <a:pt x="47091" y="170815"/>
                  </a:lnTo>
                  <a:lnTo>
                    <a:pt x="27114" y="210693"/>
                  </a:lnTo>
                  <a:lnTo>
                    <a:pt x="12318" y="253238"/>
                  </a:lnTo>
                  <a:lnTo>
                    <a:pt x="3149" y="298069"/>
                  </a:lnTo>
                  <a:lnTo>
                    <a:pt x="0" y="344932"/>
                  </a:lnTo>
                  <a:lnTo>
                    <a:pt x="0" y="702691"/>
                  </a:lnTo>
                  <a:lnTo>
                    <a:pt x="3149" y="749554"/>
                  </a:lnTo>
                  <a:lnTo>
                    <a:pt x="12318" y="794385"/>
                  </a:lnTo>
                  <a:lnTo>
                    <a:pt x="27114" y="836930"/>
                  </a:lnTo>
                  <a:lnTo>
                    <a:pt x="47091" y="876808"/>
                  </a:lnTo>
                  <a:lnTo>
                    <a:pt x="71869" y="913511"/>
                  </a:lnTo>
                  <a:lnTo>
                    <a:pt x="101028" y="946658"/>
                  </a:lnTo>
                  <a:lnTo>
                    <a:pt x="134150" y="975741"/>
                  </a:lnTo>
                  <a:lnTo>
                    <a:pt x="170840" y="1000506"/>
                  </a:lnTo>
                  <a:lnTo>
                    <a:pt x="210667" y="1020572"/>
                  </a:lnTo>
                  <a:lnTo>
                    <a:pt x="253238" y="1035304"/>
                  </a:lnTo>
                  <a:lnTo>
                    <a:pt x="298119" y="1044448"/>
                  </a:lnTo>
                  <a:lnTo>
                    <a:pt x="344932" y="1047623"/>
                  </a:lnTo>
                  <a:lnTo>
                    <a:pt x="391731" y="1044448"/>
                  </a:lnTo>
                  <a:lnTo>
                    <a:pt x="436626" y="1035304"/>
                  </a:lnTo>
                  <a:lnTo>
                    <a:pt x="479183" y="1020572"/>
                  </a:lnTo>
                  <a:lnTo>
                    <a:pt x="519010" y="1000506"/>
                  </a:lnTo>
                  <a:lnTo>
                    <a:pt x="555701" y="975741"/>
                  </a:lnTo>
                  <a:lnTo>
                    <a:pt x="588822" y="946658"/>
                  </a:lnTo>
                  <a:lnTo>
                    <a:pt x="617982" y="913511"/>
                  </a:lnTo>
                  <a:lnTo>
                    <a:pt x="642759" y="876808"/>
                  </a:lnTo>
                  <a:lnTo>
                    <a:pt x="662749" y="836930"/>
                  </a:lnTo>
                  <a:lnTo>
                    <a:pt x="677532" y="794385"/>
                  </a:lnTo>
                  <a:lnTo>
                    <a:pt x="686676" y="749554"/>
                  </a:lnTo>
                  <a:lnTo>
                    <a:pt x="689851" y="702691"/>
                  </a:lnTo>
                  <a:lnTo>
                    <a:pt x="689851" y="344932"/>
                  </a:lnTo>
                  <a:lnTo>
                    <a:pt x="685533" y="290703"/>
                  </a:lnTo>
                  <a:lnTo>
                    <a:pt x="672960" y="238125"/>
                  </a:lnTo>
                  <a:lnTo>
                    <a:pt x="652335" y="188468"/>
                  </a:lnTo>
                  <a:lnTo>
                    <a:pt x="624166" y="142494"/>
                  </a:lnTo>
                  <a:lnTo>
                    <a:pt x="588822" y="101092"/>
                  </a:lnTo>
                  <a:lnTo>
                    <a:pt x="547408" y="65659"/>
                  </a:lnTo>
                  <a:lnTo>
                    <a:pt x="501370" y="37465"/>
                  </a:lnTo>
                  <a:lnTo>
                    <a:pt x="451662" y="16891"/>
                  </a:lnTo>
                  <a:lnTo>
                    <a:pt x="399211" y="4318"/>
                  </a:lnTo>
                  <a:lnTo>
                    <a:pt x="344932" y="0"/>
                  </a:lnTo>
                  <a:close/>
                </a:path>
              </a:pathLst>
            </a:custGeom>
            <a:solidFill>
              <a:srgbClr val="DE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3643" y="5488178"/>
              <a:ext cx="690245" cy="1047750"/>
            </a:xfrm>
            <a:custGeom>
              <a:avLst/>
              <a:gdLst/>
              <a:ahLst/>
              <a:cxnLst/>
              <a:rect l="l" t="t" r="r" b="b"/>
              <a:pathLst>
                <a:path w="690244" h="1047750">
                  <a:moveTo>
                    <a:pt x="0" y="344932"/>
                  </a:moveTo>
                  <a:lnTo>
                    <a:pt x="3149" y="298069"/>
                  </a:lnTo>
                  <a:lnTo>
                    <a:pt x="12318" y="253238"/>
                  </a:lnTo>
                  <a:lnTo>
                    <a:pt x="27114" y="210693"/>
                  </a:lnTo>
                  <a:lnTo>
                    <a:pt x="47091" y="170815"/>
                  </a:lnTo>
                  <a:lnTo>
                    <a:pt x="71869" y="134112"/>
                  </a:lnTo>
                  <a:lnTo>
                    <a:pt x="101028" y="101092"/>
                  </a:lnTo>
                  <a:lnTo>
                    <a:pt x="134150" y="71882"/>
                  </a:lnTo>
                  <a:lnTo>
                    <a:pt x="170840" y="47117"/>
                  </a:lnTo>
                  <a:lnTo>
                    <a:pt x="210667" y="27051"/>
                  </a:lnTo>
                  <a:lnTo>
                    <a:pt x="253238" y="12319"/>
                  </a:lnTo>
                  <a:lnTo>
                    <a:pt x="298119" y="3175"/>
                  </a:lnTo>
                  <a:lnTo>
                    <a:pt x="344932" y="0"/>
                  </a:lnTo>
                  <a:lnTo>
                    <a:pt x="399211" y="4318"/>
                  </a:lnTo>
                  <a:lnTo>
                    <a:pt x="451662" y="16891"/>
                  </a:lnTo>
                  <a:lnTo>
                    <a:pt x="501370" y="37465"/>
                  </a:lnTo>
                  <a:lnTo>
                    <a:pt x="547408" y="65659"/>
                  </a:lnTo>
                  <a:lnTo>
                    <a:pt x="588822" y="101092"/>
                  </a:lnTo>
                  <a:lnTo>
                    <a:pt x="624166" y="142494"/>
                  </a:lnTo>
                  <a:lnTo>
                    <a:pt x="652335" y="188468"/>
                  </a:lnTo>
                  <a:lnTo>
                    <a:pt x="672960" y="238125"/>
                  </a:lnTo>
                  <a:lnTo>
                    <a:pt x="685533" y="290703"/>
                  </a:lnTo>
                  <a:lnTo>
                    <a:pt x="689851" y="344932"/>
                  </a:lnTo>
                  <a:lnTo>
                    <a:pt x="689851" y="702691"/>
                  </a:lnTo>
                  <a:lnTo>
                    <a:pt x="686676" y="749554"/>
                  </a:lnTo>
                  <a:lnTo>
                    <a:pt x="677532" y="794385"/>
                  </a:lnTo>
                  <a:lnTo>
                    <a:pt x="662749" y="836930"/>
                  </a:lnTo>
                  <a:lnTo>
                    <a:pt x="642759" y="876808"/>
                  </a:lnTo>
                  <a:lnTo>
                    <a:pt x="617982" y="913511"/>
                  </a:lnTo>
                  <a:lnTo>
                    <a:pt x="588822" y="946658"/>
                  </a:lnTo>
                  <a:lnTo>
                    <a:pt x="555701" y="975741"/>
                  </a:lnTo>
                  <a:lnTo>
                    <a:pt x="519010" y="1000506"/>
                  </a:lnTo>
                  <a:lnTo>
                    <a:pt x="479183" y="1020572"/>
                  </a:lnTo>
                  <a:lnTo>
                    <a:pt x="436626" y="1035304"/>
                  </a:lnTo>
                  <a:lnTo>
                    <a:pt x="391731" y="1044448"/>
                  </a:lnTo>
                  <a:lnTo>
                    <a:pt x="344932" y="1047623"/>
                  </a:lnTo>
                  <a:lnTo>
                    <a:pt x="298119" y="1044448"/>
                  </a:lnTo>
                  <a:lnTo>
                    <a:pt x="253238" y="1035304"/>
                  </a:lnTo>
                  <a:lnTo>
                    <a:pt x="210667" y="1020572"/>
                  </a:lnTo>
                  <a:lnTo>
                    <a:pt x="170840" y="1000506"/>
                  </a:lnTo>
                  <a:lnTo>
                    <a:pt x="134150" y="975741"/>
                  </a:lnTo>
                  <a:lnTo>
                    <a:pt x="101028" y="946658"/>
                  </a:lnTo>
                  <a:lnTo>
                    <a:pt x="71869" y="913511"/>
                  </a:lnTo>
                  <a:lnTo>
                    <a:pt x="47091" y="876808"/>
                  </a:lnTo>
                  <a:lnTo>
                    <a:pt x="27114" y="836930"/>
                  </a:lnTo>
                  <a:lnTo>
                    <a:pt x="12318" y="794385"/>
                  </a:lnTo>
                  <a:lnTo>
                    <a:pt x="3149" y="749554"/>
                  </a:lnTo>
                  <a:lnTo>
                    <a:pt x="0" y="702691"/>
                  </a:lnTo>
                  <a:lnTo>
                    <a:pt x="0" y="344932"/>
                  </a:lnTo>
                  <a:close/>
                </a:path>
              </a:pathLst>
            </a:custGeom>
            <a:ln w="9523">
              <a:solidFill>
                <a:srgbClr val="C5D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23292" y="5791959"/>
            <a:ext cx="1866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2C3048"/>
                </a:solidFill>
                <a:latin typeface="Lucida Sans Unicode"/>
                <a:cs typeface="Lucida Sans Unicode"/>
              </a:rPr>
              <a:t>4</a:t>
            </a:r>
            <a:endParaRPr sz="2000" dirty="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24492" y="5619009"/>
            <a:ext cx="5438775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/>
              <a:t>Verify</a:t>
            </a:r>
            <a:endParaRPr sz="20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lang="en-US" sz="1400" dirty="0"/>
              <a:t>Validate config + restart</a:t>
            </a:r>
            <a:r>
              <a:rPr sz="1350" spc="-10" dirty="0">
                <a:solidFill>
                  <a:srgbClr val="2C3048"/>
                </a:solidFill>
                <a:latin typeface="Arial MT"/>
                <a:cs typeface="Arial MT"/>
              </a:rPr>
              <a:t>.</a:t>
            </a:r>
            <a:endParaRPr sz="1350" dirty="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53359" y="6510558"/>
            <a:ext cx="740443" cy="923056"/>
            <a:chOff x="598881" y="6703504"/>
            <a:chExt cx="699770" cy="1057275"/>
          </a:xfrm>
        </p:grpSpPr>
        <p:sp>
          <p:nvSpPr>
            <p:cNvPr id="25" name="object 25"/>
            <p:cNvSpPr/>
            <p:nvPr/>
          </p:nvSpPr>
          <p:spPr>
            <a:xfrm>
              <a:off x="603643" y="6708266"/>
              <a:ext cx="690245" cy="1047750"/>
            </a:xfrm>
            <a:custGeom>
              <a:avLst/>
              <a:gdLst/>
              <a:ahLst/>
              <a:cxnLst/>
              <a:rect l="l" t="t" r="r" b="b"/>
              <a:pathLst>
                <a:path w="690244" h="1047750">
                  <a:moveTo>
                    <a:pt x="344932" y="0"/>
                  </a:moveTo>
                  <a:lnTo>
                    <a:pt x="298119" y="3047"/>
                  </a:lnTo>
                  <a:lnTo>
                    <a:pt x="253238" y="12318"/>
                  </a:lnTo>
                  <a:lnTo>
                    <a:pt x="210667" y="27050"/>
                  </a:lnTo>
                  <a:lnTo>
                    <a:pt x="170840" y="46989"/>
                  </a:lnTo>
                  <a:lnTo>
                    <a:pt x="134150" y="71881"/>
                  </a:lnTo>
                  <a:lnTo>
                    <a:pt x="101028" y="100964"/>
                  </a:lnTo>
                  <a:lnTo>
                    <a:pt x="71869" y="134111"/>
                  </a:lnTo>
                  <a:lnTo>
                    <a:pt x="47091" y="170814"/>
                  </a:lnTo>
                  <a:lnTo>
                    <a:pt x="27114" y="210565"/>
                  </a:lnTo>
                  <a:lnTo>
                    <a:pt x="12318" y="253174"/>
                  </a:lnTo>
                  <a:lnTo>
                    <a:pt x="3149" y="298068"/>
                  </a:lnTo>
                  <a:lnTo>
                    <a:pt x="0" y="344868"/>
                  </a:lnTo>
                  <a:lnTo>
                    <a:pt x="0" y="702652"/>
                  </a:lnTo>
                  <a:lnTo>
                    <a:pt x="3149" y="749465"/>
                  </a:lnTo>
                  <a:lnTo>
                    <a:pt x="12318" y="794346"/>
                  </a:lnTo>
                  <a:lnTo>
                    <a:pt x="27114" y="836917"/>
                  </a:lnTo>
                  <a:lnTo>
                    <a:pt x="47091" y="876744"/>
                  </a:lnTo>
                  <a:lnTo>
                    <a:pt x="71869" y="913434"/>
                  </a:lnTo>
                  <a:lnTo>
                    <a:pt x="101028" y="946556"/>
                  </a:lnTo>
                  <a:lnTo>
                    <a:pt x="134150" y="975715"/>
                  </a:lnTo>
                  <a:lnTo>
                    <a:pt x="170840" y="1000493"/>
                  </a:lnTo>
                  <a:lnTo>
                    <a:pt x="210667" y="1020470"/>
                  </a:lnTo>
                  <a:lnTo>
                    <a:pt x="253238" y="1035265"/>
                  </a:lnTo>
                  <a:lnTo>
                    <a:pt x="298119" y="1044435"/>
                  </a:lnTo>
                  <a:lnTo>
                    <a:pt x="344932" y="1047584"/>
                  </a:lnTo>
                  <a:lnTo>
                    <a:pt x="391731" y="1044435"/>
                  </a:lnTo>
                  <a:lnTo>
                    <a:pt x="436626" y="1035265"/>
                  </a:lnTo>
                  <a:lnTo>
                    <a:pt x="479183" y="1020470"/>
                  </a:lnTo>
                  <a:lnTo>
                    <a:pt x="519010" y="1000493"/>
                  </a:lnTo>
                  <a:lnTo>
                    <a:pt x="555701" y="975715"/>
                  </a:lnTo>
                  <a:lnTo>
                    <a:pt x="588822" y="946556"/>
                  </a:lnTo>
                  <a:lnTo>
                    <a:pt x="617982" y="913434"/>
                  </a:lnTo>
                  <a:lnTo>
                    <a:pt x="642759" y="876744"/>
                  </a:lnTo>
                  <a:lnTo>
                    <a:pt x="662749" y="836917"/>
                  </a:lnTo>
                  <a:lnTo>
                    <a:pt x="677532" y="794346"/>
                  </a:lnTo>
                  <a:lnTo>
                    <a:pt x="686676" y="749465"/>
                  </a:lnTo>
                  <a:lnTo>
                    <a:pt x="689851" y="702652"/>
                  </a:lnTo>
                  <a:lnTo>
                    <a:pt x="689851" y="344868"/>
                  </a:lnTo>
                  <a:lnTo>
                    <a:pt x="685533" y="290588"/>
                  </a:lnTo>
                  <a:lnTo>
                    <a:pt x="672960" y="238124"/>
                  </a:lnTo>
                  <a:lnTo>
                    <a:pt x="652335" y="188467"/>
                  </a:lnTo>
                  <a:lnTo>
                    <a:pt x="624166" y="142366"/>
                  </a:lnTo>
                  <a:lnTo>
                    <a:pt x="588822" y="100964"/>
                  </a:lnTo>
                  <a:lnTo>
                    <a:pt x="547408" y="65658"/>
                  </a:lnTo>
                  <a:lnTo>
                    <a:pt x="501370" y="37464"/>
                  </a:lnTo>
                  <a:lnTo>
                    <a:pt x="451662" y="16890"/>
                  </a:lnTo>
                  <a:lnTo>
                    <a:pt x="399211" y="4190"/>
                  </a:lnTo>
                  <a:lnTo>
                    <a:pt x="344932" y="0"/>
                  </a:lnTo>
                  <a:close/>
                </a:path>
              </a:pathLst>
            </a:custGeom>
            <a:solidFill>
              <a:srgbClr val="DE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3643" y="6708266"/>
              <a:ext cx="690245" cy="1047750"/>
            </a:xfrm>
            <a:custGeom>
              <a:avLst/>
              <a:gdLst/>
              <a:ahLst/>
              <a:cxnLst/>
              <a:rect l="l" t="t" r="r" b="b"/>
              <a:pathLst>
                <a:path w="690244" h="1047750">
                  <a:moveTo>
                    <a:pt x="0" y="344868"/>
                  </a:moveTo>
                  <a:lnTo>
                    <a:pt x="3149" y="298068"/>
                  </a:lnTo>
                  <a:lnTo>
                    <a:pt x="12318" y="253174"/>
                  </a:lnTo>
                  <a:lnTo>
                    <a:pt x="27114" y="210565"/>
                  </a:lnTo>
                  <a:lnTo>
                    <a:pt x="47091" y="170814"/>
                  </a:lnTo>
                  <a:lnTo>
                    <a:pt x="71869" y="134111"/>
                  </a:lnTo>
                  <a:lnTo>
                    <a:pt x="101028" y="100964"/>
                  </a:lnTo>
                  <a:lnTo>
                    <a:pt x="134150" y="71881"/>
                  </a:lnTo>
                  <a:lnTo>
                    <a:pt x="170840" y="46989"/>
                  </a:lnTo>
                  <a:lnTo>
                    <a:pt x="210667" y="27050"/>
                  </a:lnTo>
                  <a:lnTo>
                    <a:pt x="253238" y="12318"/>
                  </a:lnTo>
                  <a:lnTo>
                    <a:pt x="298119" y="3047"/>
                  </a:lnTo>
                  <a:lnTo>
                    <a:pt x="344932" y="0"/>
                  </a:lnTo>
                  <a:lnTo>
                    <a:pt x="399211" y="4190"/>
                  </a:lnTo>
                  <a:lnTo>
                    <a:pt x="451662" y="16890"/>
                  </a:lnTo>
                  <a:lnTo>
                    <a:pt x="501370" y="37464"/>
                  </a:lnTo>
                  <a:lnTo>
                    <a:pt x="547408" y="65658"/>
                  </a:lnTo>
                  <a:lnTo>
                    <a:pt x="588822" y="100964"/>
                  </a:lnTo>
                  <a:lnTo>
                    <a:pt x="624166" y="142366"/>
                  </a:lnTo>
                  <a:lnTo>
                    <a:pt x="652335" y="188467"/>
                  </a:lnTo>
                  <a:lnTo>
                    <a:pt x="672960" y="238124"/>
                  </a:lnTo>
                  <a:lnTo>
                    <a:pt x="685533" y="290588"/>
                  </a:lnTo>
                  <a:lnTo>
                    <a:pt x="689851" y="344868"/>
                  </a:lnTo>
                  <a:lnTo>
                    <a:pt x="689851" y="702652"/>
                  </a:lnTo>
                  <a:lnTo>
                    <a:pt x="686676" y="749465"/>
                  </a:lnTo>
                  <a:lnTo>
                    <a:pt x="677532" y="794346"/>
                  </a:lnTo>
                  <a:lnTo>
                    <a:pt x="662749" y="836917"/>
                  </a:lnTo>
                  <a:lnTo>
                    <a:pt x="642759" y="876744"/>
                  </a:lnTo>
                  <a:lnTo>
                    <a:pt x="617982" y="913434"/>
                  </a:lnTo>
                  <a:lnTo>
                    <a:pt x="588822" y="946556"/>
                  </a:lnTo>
                  <a:lnTo>
                    <a:pt x="555701" y="975715"/>
                  </a:lnTo>
                  <a:lnTo>
                    <a:pt x="519010" y="1000493"/>
                  </a:lnTo>
                  <a:lnTo>
                    <a:pt x="479183" y="1020470"/>
                  </a:lnTo>
                  <a:lnTo>
                    <a:pt x="436626" y="1035265"/>
                  </a:lnTo>
                  <a:lnTo>
                    <a:pt x="391731" y="1044435"/>
                  </a:lnTo>
                  <a:lnTo>
                    <a:pt x="344932" y="1047584"/>
                  </a:lnTo>
                  <a:lnTo>
                    <a:pt x="298119" y="1044435"/>
                  </a:lnTo>
                  <a:lnTo>
                    <a:pt x="253238" y="1035265"/>
                  </a:lnTo>
                  <a:lnTo>
                    <a:pt x="210667" y="1020470"/>
                  </a:lnTo>
                  <a:lnTo>
                    <a:pt x="170840" y="1000493"/>
                  </a:lnTo>
                  <a:lnTo>
                    <a:pt x="134150" y="975715"/>
                  </a:lnTo>
                  <a:lnTo>
                    <a:pt x="101028" y="946556"/>
                  </a:lnTo>
                  <a:lnTo>
                    <a:pt x="71869" y="913434"/>
                  </a:lnTo>
                  <a:lnTo>
                    <a:pt x="47091" y="876744"/>
                  </a:lnTo>
                  <a:lnTo>
                    <a:pt x="27114" y="836917"/>
                  </a:lnTo>
                  <a:lnTo>
                    <a:pt x="12318" y="794346"/>
                  </a:lnTo>
                  <a:lnTo>
                    <a:pt x="3149" y="749465"/>
                  </a:lnTo>
                  <a:lnTo>
                    <a:pt x="0" y="702652"/>
                  </a:lnTo>
                  <a:lnTo>
                    <a:pt x="0" y="344868"/>
                  </a:lnTo>
                  <a:close/>
                </a:path>
              </a:pathLst>
            </a:custGeom>
            <a:ln w="9523">
              <a:solidFill>
                <a:srgbClr val="C5D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09899" y="6976256"/>
            <a:ext cx="1866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2C3048"/>
                </a:solidFill>
                <a:latin typeface="Lucida Sans Unicode"/>
                <a:cs typeface="Lucida Sans Unicode"/>
              </a:rPr>
              <a:t>5</a:t>
            </a:r>
            <a:endParaRPr sz="2000" dirty="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90884" y="6826369"/>
            <a:ext cx="5767070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/>
              <a:t>Report</a:t>
            </a:r>
            <a:endParaRPr sz="20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lang="en-US" sz="1400" dirty="0"/>
              <a:t>Score + log + evidence</a:t>
            </a:r>
            <a:endParaRPr sz="1350" dirty="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2404" y="7747217"/>
            <a:ext cx="1150620" cy="807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lang="en-US" sz="1800" spc="-10" dirty="0">
                <a:solidFill>
                  <a:srgbClr val="2C3048"/>
                </a:solidFill>
                <a:highlight>
                  <a:srgbClr val="808080"/>
                </a:highlight>
                <a:latin typeface="Arial MT"/>
                <a:cs typeface="Arial MT"/>
              </a:rPr>
              <a:t>12/12/2025</a:t>
            </a:r>
            <a:endParaRPr lang="en-US" sz="1800" dirty="0">
              <a:highlight>
                <a:srgbClr val="808080"/>
              </a:highlight>
              <a:latin typeface="Arial MT"/>
              <a:cs typeface="Arial MT"/>
            </a:endParaRPr>
          </a:p>
          <a:p>
            <a:pPr marL="12700">
              <a:lnSpc>
                <a:spcPts val="2090"/>
              </a:lnSpc>
            </a:pPr>
            <a:endParaRPr lang="en-US" sz="1800" dirty="0">
              <a:latin typeface="Arial MT"/>
              <a:cs typeface="Arial MT"/>
            </a:endParaRPr>
          </a:p>
          <a:p>
            <a:pPr marL="12700">
              <a:lnSpc>
                <a:spcPts val="2090"/>
              </a:lnSpc>
            </a:pPr>
            <a:endParaRPr sz="1800" dirty="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944600" y="7747217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50" dirty="0">
                <a:solidFill>
                  <a:srgbClr val="272C45"/>
                </a:solidFill>
                <a:latin typeface="Arial"/>
                <a:cs typeface="Arial"/>
              </a:rPr>
              <a:t>5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B0F2701-FFCC-0602-B207-1F40C27866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164" y="3130879"/>
            <a:ext cx="6324600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6233" y="1408619"/>
            <a:ext cx="744347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dirty="0"/>
              <a:t>Technologies Used</a:t>
            </a:r>
            <a:endParaRPr sz="4800" dirty="0"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11"/>
          </p:nvPr>
        </p:nvSpPr>
        <p:spPr>
          <a:xfrm>
            <a:off x="3276600" y="7882991"/>
            <a:ext cx="9025906" cy="11573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9605">
              <a:lnSpc>
                <a:spcPts val="1810"/>
              </a:lnSpc>
            </a:pPr>
            <a:r>
              <a:rPr lang="en-US" sz="1800" dirty="0" err="1"/>
              <a:t>SentinelShield</a:t>
            </a:r>
            <a:r>
              <a:rPr lang="en-US" sz="1800" dirty="0"/>
              <a:t>: Advanced Linux Security Hardening &amp; Threat Audit Framework</a:t>
            </a:r>
          </a:p>
          <a:p>
            <a:pPr marL="649605">
              <a:lnSpc>
                <a:spcPts val="1810"/>
              </a:lnSpc>
            </a:pPr>
            <a:endParaRPr lang="en-US" sz="1800" spc="-10" dirty="0"/>
          </a:p>
          <a:p>
            <a:pPr marL="649605">
              <a:lnSpc>
                <a:spcPts val="1810"/>
              </a:lnSpc>
            </a:pPr>
            <a:endParaRPr lang="en-US" sz="1800" spc="-10" dirty="0"/>
          </a:p>
          <a:p>
            <a:pPr marL="12700">
              <a:lnSpc>
                <a:spcPts val="1810"/>
              </a:lnSpc>
            </a:pPr>
            <a:endParaRPr lang="en-US" sz="1800" spc="-10" dirty="0"/>
          </a:p>
          <a:p>
            <a:pPr marL="88900">
              <a:lnSpc>
                <a:spcPts val="1810"/>
              </a:lnSpc>
            </a:pPr>
            <a:endParaRPr sz="1800" spc="-10" dirty="0"/>
          </a:p>
        </p:txBody>
      </p:sp>
      <p:grpSp>
        <p:nvGrpSpPr>
          <p:cNvPr id="8" name="object 8"/>
          <p:cNvGrpSpPr/>
          <p:nvPr/>
        </p:nvGrpSpPr>
        <p:grpSpPr>
          <a:xfrm>
            <a:off x="286499" y="6645846"/>
            <a:ext cx="13680440" cy="1035050"/>
            <a:chOff x="286499" y="6645846"/>
            <a:chExt cx="13680440" cy="1035050"/>
          </a:xfrm>
        </p:grpSpPr>
        <p:sp>
          <p:nvSpPr>
            <p:cNvPr id="9" name="object 9"/>
            <p:cNvSpPr/>
            <p:nvPr/>
          </p:nvSpPr>
          <p:spPr>
            <a:xfrm>
              <a:off x="291261" y="6650608"/>
              <a:ext cx="13670915" cy="1025525"/>
            </a:xfrm>
            <a:custGeom>
              <a:avLst/>
              <a:gdLst/>
              <a:ahLst/>
              <a:cxnLst/>
              <a:rect l="l" t="t" r="r" b="b"/>
              <a:pathLst>
                <a:path w="13670915" h="1025525">
                  <a:moveTo>
                    <a:pt x="13612825" y="0"/>
                  </a:moveTo>
                  <a:lnTo>
                    <a:pt x="57619" y="0"/>
                  </a:lnTo>
                  <a:lnTo>
                    <a:pt x="16878" y="16891"/>
                  </a:lnTo>
                  <a:lnTo>
                    <a:pt x="0" y="57658"/>
                  </a:lnTo>
                  <a:lnTo>
                    <a:pt x="0" y="967511"/>
                  </a:lnTo>
                  <a:lnTo>
                    <a:pt x="4521" y="989939"/>
                  </a:lnTo>
                  <a:lnTo>
                    <a:pt x="16878" y="1008253"/>
                  </a:lnTo>
                  <a:lnTo>
                    <a:pt x="35191" y="1020597"/>
                  </a:lnTo>
                  <a:lnTo>
                    <a:pt x="57619" y="1025131"/>
                  </a:lnTo>
                  <a:lnTo>
                    <a:pt x="13612825" y="1025131"/>
                  </a:lnTo>
                  <a:lnTo>
                    <a:pt x="13635177" y="1020597"/>
                  </a:lnTo>
                  <a:lnTo>
                    <a:pt x="13653465" y="1008253"/>
                  </a:lnTo>
                  <a:lnTo>
                    <a:pt x="13665911" y="989939"/>
                  </a:lnTo>
                  <a:lnTo>
                    <a:pt x="13670356" y="967511"/>
                  </a:lnTo>
                  <a:lnTo>
                    <a:pt x="13670356" y="57658"/>
                  </a:lnTo>
                  <a:lnTo>
                    <a:pt x="13653465" y="16891"/>
                  </a:lnTo>
                  <a:lnTo>
                    <a:pt x="13612825" y="0"/>
                  </a:lnTo>
                  <a:close/>
                </a:path>
              </a:pathLst>
            </a:custGeom>
            <a:solidFill>
              <a:srgbClr val="DE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1261" y="6650608"/>
              <a:ext cx="13670915" cy="1025525"/>
            </a:xfrm>
            <a:custGeom>
              <a:avLst/>
              <a:gdLst/>
              <a:ahLst/>
              <a:cxnLst/>
              <a:rect l="l" t="t" r="r" b="b"/>
              <a:pathLst>
                <a:path w="13670915" h="1025525">
                  <a:moveTo>
                    <a:pt x="0" y="57658"/>
                  </a:moveTo>
                  <a:lnTo>
                    <a:pt x="4521" y="35179"/>
                  </a:lnTo>
                  <a:lnTo>
                    <a:pt x="16878" y="16891"/>
                  </a:lnTo>
                  <a:lnTo>
                    <a:pt x="35191" y="4572"/>
                  </a:lnTo>
                  <a:lnTo>
                    <a:pt x="57619" y="0"/>
                  </a:lnTo>
                  <a:lnTo>
                    <a:pt x="13612825" y="0"/>
                  </a:lnTo>
                  <a:lnTo>
                    <a:pt x="13653465" y="16891"/>
                  </a:lnTo>
                  <a:lnTo>
                    <a:pt x="13670356" y="57658"/>
                  </a:lnTo>
                  <a:lnTo>
                    <a:pt x="13670356" y="967511"/>
                  </a:lnTo>
                  <a:lnTo>
                    <a:pt x="13665911" y="989939"/>
                  </a:lnTo>
                  <a:lnTo>
                    <a:pt x="13653465" y="1008253"/>
                  </a:lnTo>
                  <a:lnTo>
                    <a:pt x="13635177" y="1020597"/>
                  </a:lnTo>
                  <a:lnTo>
                    <a:pt x="13612825" y="1025131"/>
                  </a:lnTo>
                  <a:lnTo>
                    <a:pt x="57619" y="1025131"/>
                  </a:lnTo>
                  <a:lnTo>
                    <a:pt x="35191" y="1020597"/>
                  </a:lnTo>
                  <a:lnTo>
                    <a:pt x="16878" y="1008253"/>
                  </a:lnTo>
                  <a:lnTo>
                    <a:pt x="4521" y="989939"/>
                  </a:lnTo>
                  <a:lnTo>
                    <a:pt x="0" y="967511"/>
                  </a:lnTo>
                  <a:lnTo>
                    <a:pt x="0" y="57658"/>
                  </a:lnTo>
                  <a:close/>
                </a:path>
              </a:pathLst>
            </a:custGeom>
            <a:ln w="9523">
              <a:solidFill>
                <a:srgbClr val="C5D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8881" y="6658228"/>
              <a:ext cx="4551680" cy="1010285"/>
            </a:xfrm>
            <a:custGeom>
              <a:avLst/>
              <a:gdLst/>
              <a:ahLst/>
              <a:cxnLst/>
              <a:rect l="l" t="t" r="r" b="b"/>
              <a:pathLst>
                <a:path w="4551680" h="1010284">
                  <a:moveTo>
                    <a:pt x="4493971" y="0"/>
                  </a:moveTo>
                  <a:lnTo>
                    <a:pt x="57619" y="0"/>
                  </a:lnTo>
                  <a:lnTo>
                    <a:pt x="35191" y="4572"/>
                  </a:lnTo>
                  <a:lnTo>
                    <a:pt x="16878" y="16891"/>
                  </a:lnTo>
                  <a:lnTo>
                    <a:pt x="4521" y="35179"/>
                  </a:lnTo>
                  <a:lnTo>
                    <a:pt x="0" y="57658"/>
                  </a:lnTo>
                  <a:lnTo>
                    <a:pt x="0" y="952207"/>
                  </a:lnTo>
                  <a:lnTo>
                    <a:pt x="4521" y="974636"/>
                  </a:lnTo>
                  <a:lnTo>
                    <a:pt x="16878" y="992949"/>
                  </a:lnTo>
                  <a:lnTo>
                    <a:pt x="35191" y="1005293"/>
                  </a:lnTo>
                  <a:lnTo>
                    <a:pt x="57619" y="1009827"/>
                  </a:lnTo>
                  <a:lnTo>
                    <a:pt x="4493971" y="1009827"/>
                  </a:lnTo>
                  <a:lnTo>
                    <a:pt x="4516450" y="1005293"/>
                  </a:lnTo>
                  <a:lnTo>
                    <a:pt x="4534738" y="992949"/>
                  </a:lnTo>
                  <a:lnTo>
                    <a:pt x="4547057" y="974636"/>
                  </a:lnTo>
                  <a:lnTo>
                    <a:pt x="4551629" y="952207"/>
                  </a:lnTo>
                  <a:lnTo>
                    <a:pt x="4551629" y="57658"/>
                  </a:lnTo>
                  <a:lnTo>
                    <a:pt x="4534738" y="16891"/>
                  </a:lnTo>
                  <a:lnTo>
                    <a:pt x="4493971" y="0"/>
                  </a:lnTo>
                  <a:close/>
                </a:path>
              </a:pathLst>
            </a:custGeom>
            <a:solidFill>
              <a:srgbClr val="730A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939358" y="6912827"/>
            <a:ext cx="3989704" cy="335348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lang="en-US" sz="1400" dirty="0">
                <a:solidFill>
                  <a:schemeClr val="bg2"/>
                </a:solidFill>
              </a:rPr>
              <a:t>Bash Script</a:t>
            </a:r>
            <a:endParaRPr sz="1350" dirty="0">
              <a:solidFill>
                <a:schemeClr val="bg2"/>
              </a:solidFill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50510" y="6658229"/>
            <a:ext cx="15875" cy="1010285"/>
          </a:xfrm>
          <a:custGeom>
            <a:avLst/>
            <a:gdLst/>
            <a:ahLst/>
            <a:cxnLst/>
            <a:rect l="l" t="t" r="r" b="b"/>
            <a:pathLst>
              <a:path w="15875" h="1010284">
                <a:moveTo>
                  <a:pt x="9651" y="0"/>
                </a:moveTo>
                <a:lnTo>
                  <a:pt x="3428" y="0"/>
                </a:lnTo>
                <a:lnTo>
                  <a:pt x="0" y="3429"/>
                </a:lnTo>
                <a:lnTo>
                  <a:pt x="0" y="1006398"/>
                </a:lnTo>
                <a:lnTo>
                  <a:pt x="3428" y="1009827"/>
                </a:lnTo>
                <a:lnTo>
                  <a:pt x="11937" y="1009827"/>
                </a:lnTo>
                <a:lnTo>
                  <a:pt x="15366" y="1006398"/>
                </a:lnTo>
                <a:lnTo>
                  <a:pt x="15366" y="5588"/>
                </a:lnTo>
                <a:lnTo>
                  <a:pt x="14477" y="3683"/>
                </a:lnTo>
                <a:lnTo>
                  <a:pt x="11684" y="889"/>
                </a:lnTo>
                <a:lnTo>
                  <a:pt x="9651" y="0"/>
                </a:lnTo>
                <a:close/>
              </a:path>
            </a:pathLst>
          </a:custGeom>
          <a:solidFill>
            <a:srgbClr val="8D23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843475" y="6682469"/>
            <a:ext cx="4582159" cy="961802"/>
          </a:xfrm>
          <a:prstGeom prst="rect">
            <a:avLst/>
          </a:prstGeom>
          <a:solidFill>
            <a:srgbClr val="730A09"/>
          </a:solidFill>
        </p:spPr>
        <p:txBody>
          <a:bodyPr vert="horz" wrap="square" lIns="0" tIns="0" rIns="0" bIns="0" rtlCol="0">
            <a:spAutoFit/>
          </a:bodyPr>
          <a:lstStyle/>
          <a:p>
            <a:pPr marL="106680">
              <a:lnSpc>
                <a:spcPts val="1505"/>
              </a:lnSpc>
            </a:pPr>
            <a:endParaRPr lang="en-US" sz="1400" dirty="0"/>
          </a:p>
          <a:p>
            <a:pPr marL="106680">
              <a:lnSpc>
                <a:spcPts val="1505"/>
              </a:lnSpc>
            </a:pPr>
            <a:r>
              <a:rPr lang="en-US" sz="1400" dirty="0"/>
              <a:t>              </a:t>
            </a:r>
          </a:p>
          <a:p>
            <a:pPr marL="106680">
              <a:lnSpc>
                <a:spcPts val="1505"/>
              </a:lnSpc>
            </a:pPr>
            <a:r>
              <a:rPr lang="en-US" sz="1400" dirty="0">
                <a:solidFill>
                  <a:schemeClr val="bg2"/>
                </a:solidFill>
              </a:rPr>
              <a:t>                     Whiptail (menu-driven TUI)</a:t>
            </a:r>
          </a:p>
          <a:p>
            <a:pPr marL="106680">
              <a:lnSpc>
                <a:spcPts val="1505"/>
              </a:lnSpc>
            </a:pPr>
            <a:endParaRPr lang="en-US" sz="1400" dirty="0">
              <a:solidFill>
                <a:schemeClr val="bg2"/>
              </a:solidFill>
              <a:highlight>
                <a:srgbClr val="C0C0C0"/>
              </a:highlight>
            </a:endParaRPr>
          </a:p>
          <a:p>
            <a:pPr marL="106680">
              <a:lnSpc>
                <a:spcPts val="1505"/>
              </a:lnSpc>
            </a:pPr>
            <a:endParaRPr lang="en-US" sz="1400" dirty="0">
              <a:highlight>
                <a:srgbClr val="C0C0C0"/>
              </a:highlight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02191" y="6658229"/>
            <a:ext cx="15240" cy="1010285"/>
          </a:xfrm>
          <a:custGeom>
            <a:avLst/>
            <a:gdLst/>
            <a:ahLst/>
            <a:cxnLst/>
            <a:rect l="l" t="t" r="r" b="b"/>
            <a:pathLst>
              <a:path w="15240" h="1010284">
                <a:moveTo>
                  <a:pt x="9651" y="0"/>
                </a:moveTo>
                <a:lnTo>
                  <a:pt x="3428" y="0"/>
                </a:lnTo>
                <a:lnTo>
                  <a:pt x="0" y="3429"/>
                </a:lnTo>
                <a:lnTo>
                  <a:pt x="0" y="1006398"/>
                </a:lnTo>
                <a:lnTo>
                  <a:pt x="3428" y="1009827"/>
                </a:lnTo>
                <a:lnTo>
                  <a:pt x="11810" y="1009827"/>
                </a:lnTo>
                <a:lnTo>
                  <a:pt x="15239" y="1006398"/>
                </a:lnTo>
                <a:lnTo>
                  <a:pt x="15239" y="5588"/>
                </a:lnTo>
                <a:lnTo>
                  <a:pt x="14477" y="3683"/>
                </a:lnTo>
                <a:lnTo>
                  <a:pt x="11556" y="889"/>
                </a:lnTo>
                <a:lnTo>
                  <a:pt x="9651" y="0"/>
                </a:lnTo>
                <a:close/>
              </a:path>
            </a:pathLst>
          </a:custGeom>
          <a:solidFill>
            <a:srgbClr val="8D23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417431" y="6655371"/>
            <a:ext cx="4537710" cy="987450"/>
          </a:xfrm>
          <a:prstGeom prst="rect">
            <a:avLst/>
          </a:prstGeom>
          <a:solidFill>
            <a:srgbClr val="730A09"/>
          </a:solidFill>
        </p:spPr>
        <p:txBody>
          <a:bodyPr vert="horz" wrap="square" lIns="0" tIns="109220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860"/>
              </a:spcBef>
            </a:pPr>
            <a:endParaRPr lang="en-US" sz="1400" dirty="0">
              <a:solidFill>
                <a:schemeClr val="bg2"/>
              </a:solidFill>
            </a:endParaRPr>
          </a:p>
          <a:p>
            <a:pPr marL="122555">
              <a:lnSpc>
                <a:spcPct val="100000"/>
              </a:lnSpc>
              <a:spcBef>
                <a:spcPts val="860"/>
              </a:spcBef>
            </a:pPr>
            <a:r>
              <a:rPr lang="en-US" sz="1400" dirty="0">
                <a:solidFill>
                  <a:schemeClr val="bg2"/>
                </a:solidFill>
              </a:rPr>
              <a:t>INI configuration file</a:t>
            </a:r>
          </a:p>
          <a:p>
            <a:pPr marL="122555">
              <a:lnSpc>
                <a:spcPct val="100000"/>
              </a:lnSpc>
              <a:spcBef>
                <a:spcPts val="860"/>
              </a:spcBef>
            </a:pPr>
            <a:endParaRPr lang="en-US" sz="1400" dirty="0">
              <a:solidFill>
                <a:schemeClr val="bg2"/>
              </a:solidFill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177263" y="7911503"/>
            <a:ext cx="15303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0" dirty="0">
                <a:solidFill>
                  <a:srgbClr val="272C45"/>
                </a:solidFill>
                <a:latin typeface="Arial"/>
                <a:cs typeface="Arial"/>
              </a:rPr>
              <a:t>6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8BB498-26F0-E787-4527-1610AA1BA373}"/>
              </a:ext>
            </a:extLst>
          </p:cNvPr>
          <p:cNvSpPr txBox="1"/>
          <p:nvPr/>
        </p:nvSpPr>
        <p:spPr>
          <a:xfrm>
            <a:off x="92768" y="7829793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0" dirty="0">
                <a:solidFill>
                  <a:srgbClr val="2C3048"/>
                </a:solidFill>
                <a:latin typeface="+mn-lt"/>
                <a:cs typeface="Arial"/>
              </a:rPr>
              <a:t>12/25/2025</a:t>
            </a:r>
          </a:p>
        </p:txBody>
      </p:sp>
      <p:pic>
        <p:nvPicPr>
          <p:cNvPr id="23" name="Picture 22" descr="A hexagon with a sign and a couple of icons&#10;&#10;AI-generated content may be incorrect.">
            <a:extLst>
              <a:ext uri="{FF2B5EF4-FFF2-40B4-BE49-F238E27FC236}">
                <a16:creationId xmlns:a16="http://schemas.microsoft.com/office/drawing/2014/main" id="{5816AD65-6CF2-3D14-2250-1C4C51481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082380"/>
            <a:ext cx="8203287" cy="29485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29506" y="5097145"/>
            <a:ext cx="403225" cy="403225"/>
            <a:chOff x="4664328" y="2099691"/>
            <a:chExt cx="403225" cy="403225"/>
          </a:xfrm>
        </p:grpSpPr>
        <p:sp>
          <p:nvSpPr>
            <p:cNvPr id="3" name="object 3"/>
            <p:cNvSpPr/>
            <p:nvPr/>
          </p:nvSpPr>
          <p:spPr>
            <a:xfrm>
              <a:off x="4664329" y="2099692"/>
              <a:ext cx="401308" cy="369332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327660" y="0"/>
                  </a:moveTo>
                  <a:lnTo>
                    <a:pt x="75184" y="0"/>
                  </a:lnTo>
                  <a:lnTo>
                    <a:pt x="45847" y="5842"/>
                  </a:lnTo>
                  <a:lnTo>
                    <a:pt x="21971" y="21971"/>
                  </a:lnTo>
                  <a:lnTo>
                    <a:pt x="5842" y="45974"/>
                  </a:lnTo>
                  <a:lnTo>
                    <a:pt x="0" y="75184"/>
                  </a:lnTo>
                  <a:lnTo>
                    <a:pt x="0" y="327660"/>
                  </a:lnTo>
                  <a:lnTo>
                    <a:pt x="5842" y="356997"/>
                  </a:lnTo>
                  <a:lnTo>
                    <a:pt x="21971" y="380873"/>
                  </a:lnTo>
                  <a:lnTo>
                    <a:pt x="45847" y="397001"/>
                  </a:lnTo>
                  <a:lnTo>
                    <a:pt x="75184" y="402844"/>
                  </a:lnTo>
                  <a:lnTo>
                    <a:pt x="327660" y="402844"/>
                  </a:lnTo>
                  <a:lnTo>
                    <a:pt x="356870" y="397001"/>
                  </a:lnTo>
                  <a:lnTo>
                    <a:pt x="380873" y="380873"/>
                  </a:lnTo>
                  <a:lnTo>
                    <a:pt x="396875" y="356997"/>
                  </a:lnTo>
                  <a:lnTo>
                    <a:pt x="402844" y="327660"/>
                  </a:lnTo>
                  <a:lnTo>
                    <a:pt x="402844" y="75184"/>
                  </a:lnTo>
                  <a:lnTo>
                    <a:pt x="397129" y="46355"/>
                  </a:lnTo>
                  <a:lnTo>
                    <a:pt x="369316" y="12573"/>
                  </a:lnTo>
                  <a:lnTo>
                    <a:pt x="327660" y="0"/>
                  </a:lnTo>
                  <a:close/>
                </a:path>
              </a:pathLst>
            </a:custGeom>
            <a:solidFill>
              <a:srgbClr val="DE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64328" y="209969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0" y="75184"/>
                  </a:moveTo>
                  <a:lnTo>
                    <a:pt x="5842" y="45974"/>
                  </a:lnTo>
                  <a:lnTo>
                    <a:pt x="21971" y="21971"/>
                  </a:lnTo>
                  <a:lnTo>
                    <a:pt x="45847" y="5842"/>
                  </a:lnTo>
                  <a:lnTo>
                    <a:pt x="75184" y="0"/>
                  </a:lnTo>
                  <a:lnTo>
                    <a:pt x="327660" y="0"/>
                  </a:lnTo>
                  <a:lnTo>
                    <a:pt x="369316" y="12573"/>
                  </a:lnTo>
                  <a:lnTo>
                    <a:pt x="397129" y="46355"/>
                  </a:lnTo>
                  <a:lnTo>
                    <a:pt x="402844" y="75184"/>
                  </a:lnTo>
                  <a:lnTo>
                    <a:pt x="402844" y="327660"/>
                  </a:lnTo>
                  <a:lnTo>
                    <a:pt x="397001" y="356997"/>
                  </a:lnTo>
                  <a:lnTo>
                    <a:pt x="380873" y="380873"/>
                  </a:lnTo>
                  <a:lnTo>
                    <a:pt x="356870" y="397001"/>
                  </a:lnTo>
                  <a:lnTo>
                    <a:pt x="327660" y="402844"/>
                  </a:lnTo>
                  <a:lnTo>
                    <a:pt x="75184" y="402844"/>
                  </a:lnTo>
                  <a:lnTo>
                    <a:pt x="45847" y="397001"/>
                  </a:lnTo>
                  <a:lnTo>
                    <a:pt x="21971" y="380873"/>
                  </a:lnTo>
                  <a:lnTo>
                    <a:pt x="5842" y="356997"/>
                  </a:lnTo>
                  <a:lnTo>
                    <a:pt x="0" y="327660"/>
                  </a:lnTo>
                  <a:lnTo>
                    <a:pt x="0" y="75184"/>
                  </a:lnTo>
                  <a:close/>
                </a:path>
              </a:pathLst>
            </a:custGeom>
            <a:ln w="9523">
              <a:solidFill>
                <a:srgbClr val="C5D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0" y="838200"/>
            <a:ext cx="146304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dirty="0"/>
              <a:t>What is audited?</a:t>
            </a:r>
            <a:endParaRPr sz="4800" dirty="0"/>
          </a:p>
        </p:txBody>
      </p:sp>
      <p:grpSp>
        <p:nvGrpSpPr>
          <p:cNvPr id="7" name="object 7"/>
          <p:cNvGrpSpPr/>
          <p:nvPr/>
        </p:nvGrpSpPr>
        <p:grpSpPr>
          <a:xfrm>
            <a:off x="1027424" y="3264397"/>
            <a:ext cx="403225" cy="403225"/>
            <a:chOff x="621983" y="2094929"/>
            <a:chExt cx="412750" cy="412750"/>
          </a:xfrm>
        </p:grpSpPr>
        <p:sp>
          <p:nvSpPr>
            <p:cNvPr id="8" name="object 8"/>
            <p:cNvSpPr/>
            <p:nvPr/>
          </p:nvSpPr>
          <p:spPr>
            <a:xfrm>
              <a:off x="626745" y="209969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327685" y="0"/>
                  </a:moveTo>
                  <a:lnTo>
                    <a:pt x="75222" y="0"/>
                  </a:lnTo>
                  <a:lnTo>
                    <a:pt x="45935" y="5842"/>
                  </a:lnTo>
                  <a:lnTo>
                    <a:pt x="22034" y="21971"/>
                  </a:lnTo>
                  <a:lnTo>
                    <a:pt x="5905" y="45974"/>
                  </a:lnTo>
                  <a:lnTo>
                    <a:pt x="0" y="75184"/>
                  </a:lnTo>
                  <a:lnTo>
                    <a:pt x="0" y="327660"/>
                  </a:lnTo>
                  <a:lnTo>
                    <a:pt x="5905" y="356997"/>
                  </a:lnTo>
                  <a:lnTo>
                    <a:pt x="22034" y="380873"/>
                  </a:lnTo>
                  <a:lnTo>
                    <a:pt x="45935" y="397001"/>
                  </a:lnTo>
                  <a:lnTo>
                    <a:pt x="75222" y="402844"/>
                  </a:lnTo>
                  <a:lnTo>
                    <a:pt x="327685" y="402844"/>
                  </a:lnTo>
                  <a:lnTo>
                    <a:pt x="356958" y="397001"/>
                  </a:lnTo>
                  <a:lnTo>
                    <a:pt x="380873" y="380873"/>
                  </a:lnTo>
                  <a:lnTo>
                    <a:pt x="396989" y="356997"/>
                  </a:lnTo>
                  <a:lnTo>
                    <a:pt x="402907" y="327660"/>
                  </a:lnTo>
                  <a:lnTo>
                    <a:pt x="402907" y="75184"/>
                  </a:lnTo>
                  <a:lnTo>
                    <a:pt x="397179" y="46355"/>
                  </a:lnTo>
                  <a:lnTo>
                    <a:pt x="369417" y="12573"/>
                  </a:lnTo>
                  <a:lnTo>
                    <a:pt x="327685" y="0"/>
                  </a:lnTo>
                  <a:close/>
                </a:path>
              </a:pathLst>
            </a:custGeom>
            <a:solidFill>
              <a:srgbClr val="DE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6745" y="209969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0" y="75184"/>
                  </a:moveTo>
                  <a:lnTo>
                    <a:pt x="5905" y="45974"/>
                  </a:lnTo>
                  <a:lnTo>
                    <a:pt x="22034" y="21971"/>
                  </a:lnTo>
                  <a:lnTo>
                    <a:pt x="45935" y="5842"/>
                  </a:lnTo>
                  <a:lnTo>
                    <a:pt x="75222" y="0"/>
                  </a:lnTo>
                  <a:lnTo>
                    <a:pt x="327685" y="0"/>
                  </a:lnTo>
                  <a:lnTo>
                    <a:pt x="369417" y="12573"/>
                  </a:lnTo>
                  <a:lnTo>
                    <a:pt x="397179" y="46355"/>
                  </a:lnTo>
                  <a:lnTo>
                    <a:pt x="402907" y="75184"/>
                  </a:lnTo>
                  <a:lnTo>
                    <a:pt x="402907" y="327660"/>
                  </a:lnTo>
                  <a:lnTo>
                    <a:pt x="396989" y="356997"/>
                  </a:lnTo>
                  <a:lnTo>
                    <a:pt x="380873" y="380873"/>
                  </a:lnTo>
                  <a:lnTo>
                    <a:pt x="356958" y="397001"/>
                  </a:lnTo>
                  <a:lnTo>
                    <a:pt x="327685" y="402844"/>
                  </a:lnTo>
                  <a:lnTo>
                    <a:pt x="75222" y="402844"/>
                  </a:lnTo>
                  <a:lnTo>
                    <a:pt x="45935" y="397001"/>
                  </a:lnTo>
                  <a:lnTo>
                    <a:pt x="22034" y="380873"/>
                  </a:lnTo>
                  <a:lnTo>
                    <a:pt x="5905" y="356997"/>
                  </a:lnTo>
                  <a:lnTo>
                    <a:pt x="0" y="327660"/>
                  </a:lnTo>
                  <a:lnTo>
                    <a:pt x="0" y="75184"/>
                  </a:lnTo>
                  <a:close/>
                </a:path>
              </a:pathLst>
            </a:custGeom>
            <a:ln w="9523">
              <a:solidFill>
                <a:srgbClr val="C5D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24000" y="3323723"/>
            <a:ext cx="310722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latin typeface="+mn-lt"/>
              </a:rPr>
              <a:t>World-writable files &amp; directories</a:t>
            </a:r>
            <a:endParaRPr sz="1600" dirty="0">
              <a:latin typeface="+mn-lt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71600" y="5128677"/>
            <a:ext cx="2553479" cy="3070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100"/>
              </a:spcBef>
            </a:pPr>
            <a:r>
              <a:rPr lang="en-US" sz="1600" dirty="0">
                <a:latin typeface="+mn-lt"/>
              </a:rPr>
              <a:t>Sticky-bit validation (1777</a:t>
            </a:r>
            <a:r>
              <a:rPr lang="en-US" sz="1600" dirty="0"/>
              <a:t>)</a:t>
            </a:r>
            <a:endParaRPr sz="1750" dirty="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81750" y="3907884"/>
            <a:ext cx="389850" cy="387350"/>
            <a:chOff x="621983" y="4119309"/>
            <a:chExt cx="412750" cy="412750"/>
          </a:xfrm>
        </p:grpSpPr>
        <p:sp>
          <p:nvSpPr>
            <p:cNvPr id="15" name="object 15"/>
            <p:cNvSpPr/>
            <p:nvPr/>
          </p:nvSpPr>
          <p:spPr>
            <a:xfrm>
              <a:off x="626745" y="412407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327685" y="0"/>
                  </a:moveTo>
                  <a:lnTo>
                    <a:pt x="75222" y="0"/>
                  </a:lnTo>
                  <a:lnTo>
                    <a:pt x="45935" y="5968"/>
                  </a:lnTo>
                  <a:lnTo>
                    <a:pt x="22034" y="22098"/>
                  </a:lnTo>
                  <a:lnTo>
                    <a:pt x="5905" y="45974"/>
                  </a:lnTo>
                  <a:lnTo>
                    <a:pt x="0" y="75183"/>
                  </a:lnTo>
                  <a:lnTo>
                    <a:pt x="0" y="327659"/>
                  </a:lnTo>
                  <a:lnTo>
                    <a:pt x="5905" y="356996"/>
                  </a:lnTo>
                  <a:lnTo>
                    <a:pt x="22034" y="380873"/>
                  </a:lnTo>
                  <a:lnTo>
                    <a:pt x="45935" y="397001"/>
                  </a:lnTo>
                  <a:lnTo>
                    <a:pt x="75222" y="402970"/>
                  </a:lnTo>
                  <a:lnTo>
                    <a:pt x="327685" y="402970"/>
                  </a:lnTo>
                  <a:lnTo>
                    <a:pt x="356958" y="397001"/>
                  </a:lnTo>
                  <a:lnTo>
                    <a:pt x="380873" y="380873"/>
                  </a:lnTo>
                  <a:lnTo>
                    <a:pt x="396989" y="356996"/>
                  </a:lnTo>
                  <a:lnTo>
                    <a:pt x="402907" y="327659"/>
                  </a:lnTo>
                  <a:lnTo>
                    <a:pt x="402907" y="75183"/>
                  </a:lnTo>
                  <a:lnTo>
                    <a:pt x="397179" y="46481"/>
                  </a:lnTo>
                  <a:lnTo>
                    <a:pt x="369417" y="12700"/>
                  </a:lnTo>
                  <a:lnTo>
                    <a:pt x="327685" y="0"/>
                  </a:lnTo>
                  <a:close/>
                </a:path>
              </a:pathLst>
            </a:custGeom>
            <a:solidFill>
              <a:srgbClr val="DEEBE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26745" y="412407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0" y="75183"/>
                  </a:moveTo>
                  <a:lnTo>
                    <a:pt x="5905" y="45974"/>
                  </a:lnTo>
                  <a:lnTo>
                    <a:pt x="22034" y="22098"/>
                  </a:lnTo>
                  <a:lnTo>
                    <a:pt x="45935" y="5968"/>
                  </a:lnTo>
                  <a:lnTo>
                    <a:pt x="75222" y="0"/>
                  </a:lnTo>
                  <a:lnTo>
                    <a:pt x="327685" y="0"/>
                  </a:lnTo>
                  <a:lnTo>
                    <a:pt x="369417" y="12700"/>
                  </a:lnTo>
                  <a:lnTo>
                    <a:pt x="397179" y="46481"/>
                  </a:lnTo>
                  <a:lnTo>
                    <a:pt x="402907" y="75183"/>
                  </a:lnTo>
                  <a:lnTo>
                    <a:pt x="402907" y="327659"/>
                  </a:lnTo>
                  <a:lnTo>
                    <a:pt x="396989" y="356996"/>
                  </a:lnTo>
                  <a:lnTo>
                    <a:pt x="380873" y="380873"/>
                  </a:lnTo>
                  <a:lnTo>
                    <a:pt x="356958" y="397001"/>
                  </a:lnTo>
                  <a:lnTo>
                    <a:pt x="327685" y="402970"/>
                  </a:lnTo>
                  <a:lnTo>
                    <a:pt x="75222" y="402970"/>
                  </a:lnTo>
                  <a:lnTo>
                    <a:pt x="45935" y="397001"/>
                  </a:lnTo>
                  <a:lnTo>
                    <a:pt x="22034" y="380873"/>
                  </a:lnTo>
                  <a:lnTo>
                    <a:pt x="5905" y="356996"/>
                  </a:lnTo>
                  <a:lnTo>
                    <a:pt x="0" y="327659"/>
                  </a:lnTo>
                  <a:lnTo>
                    <a:pt x="0" y="75183"/>
                  </a:lnTo>
                  <a:close/>
                </a:path>
              </a:pathLst>
            </a:custGeom>
            <a:ln w="9523">
              <a:solidFill>
                <a:srgbClr val="C5D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17416" y="3928862"/>
            <a:ext cx="2097389" cy="3070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6299"/>
              </a:lnSpc>
              <a:spcBef>
                <a:spcPts val="100"/>
              </a:spcBef>
            </a:pPr>
            <a:r>
              <a:rPr lang="en-US" sz="1600" dirty="0">
                <a:latin typeface="+mn-lt"/>
              </a:rPr>
              <a:t>Open / listening ports</a:t>
            </a:r>
            <a:endParaRPr sz="1750" dirty="0">
              <a:latin typeface="+mn-lt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944600" y="77764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272C45"/>
                </a:solidFill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75078" y="7799730"/>
            <a:ext cx="9112122" cy="1456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9605" algn="ctr">
              <a:lnSpc>
                <a:spcPts val="1810"/>
              </a:lnSpc>
            </a:pPr>
            <a:r>
              <a:rPr lang="en-US" dirty="0" err="1">
                <a:latin typeface="+mn-lt"/>
              </a:rPr>
              <a:t>SentinelShield</a:t>
            </a:r>
            <a:r>
              <a:rPr lang="en-US" dirty="0">
                <a:latin typeface="+mn-lt"/>
              </a:rPr>
              <a:t>: Advanced Linux Security Hardening &amp; Threat Audit Framework</a:t>
            </a:r>
          </a:p>
          <a:p>
            <a:pPr marL="649605" algn="ctr">
              <a:lnSpc>
                <a:spcPts val="1810"/>
              </a:lnSpc>
            </a:pPr>
            <a:endParaRPr lang="en-US" spc="-10" dirty="0">
              <a:latin typeface="+mn-lt"/>
            </a:endParaRPr>
          </a:p>
          <a:p>
            <a:pPr marL="649605" algn="ctr">
              <a:lnSpc>
                <a:spcPts val="1810"/>
              </a:lnSpc>
            </a:pPr>
            <a:endParaRPr lang="en-US" spc="-10" dirty="0">
              <a:latin typeface="+mn-lt"/>
            </a:endParaRPr>
          </a:p>
          <a:p>
            <a:pPr marL="12700" algn="ctr">
              <a:lnSpc>
                <a:spcPts val="1810"/>
              </a:lnSpc>
            </a:pPr>
            <a:endParaRPr lang="en-US" spc="-10" dirty="0">
              <a:latin typeface="+mn-lt"/>
            </a:endParaRPr>
          </a:p>
          <a:p>
            <a:pPr marL="88900" algn="ctr">
              <a:lnSpc>
                <a:spcPts val="1810"/>
              </a:lnSpc>
            </a:pPr>
            <a:endParaRPr lang="en-US" spc="-10" dirty="0">
              <a:latin typeface="+mn-lt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+mn-lt"/>
              <a:cs typeface="Calibri"/>
            </a:endParaRPr>
          </a:p>
        </p:txBody>
      </p:sp>
      <p:grpSp>
        <p:nvGrpSpPr>
          <p:cNvPr id="25" name="object 14">
            <a:extLst>
              <a:ext uri="{FF2B5EF4-FFF2-40B4-BE49-F238E27FC236}">
                <a16:creationId xmlns:a16="http://schemas.microsoft.com/office/drawing/2014/main" id="{F7EF4A67-2A27-0F1F-3595-9A57578B171F}"/>
              </a:ext>
            </a:extLst>
          </p:cNvPr>
          <p:cNvGrpSpPr/>
          <p:nvPr/>
        </p:nvGrpSpPr>
        <p:grpSpPr>
          <a:xfrm>
            <a:off x="902397" y="5757041"/>
            <a:ext cx="457445" cy="396051"/>
            <a:chOff x="621983" y="4119309"/>
            <a:chExt cx="412750" cy="412750"/>
          </a:xfrm>
        </p:grpSpPr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6CAEF0BB-CE01-7CA6-08F3-C494D076927D}"/>
                </a:ext>
              </a:extLst>
            </p:cNvPr>
            <p:cNvSpPr/>
            <p:nvPr/>
          </p:nvSpPr>
          <p:spPr>
            <a:xfrm>
              <a:off x="626745" y="412407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327685" y="0"/>
                  </a:moveTo>
                  <a:lnTo>
                    <a:pt x="75222" y="0"/>
                  </a:lnTo>
                  <a:lnTo>
                    <a:pt x="45935" y="5968"/>
                  </a:lnTo>
                  <a:lnTo>
                    <a:pt x="22034" y="22098"/>
                  </a:lnTo>
                  <a:lnTo>
                    <a:pt x="5905" y="45974"/>
                  </a:lnTo>
                  <a:lnTo>
                    <a:pt x="0" y="75183"/>
                  </a:lnTo>
                  <a:lnTo>
                    <a:pt x="0" y="327659"/>
                  </a:lnTo>
                  <a:lnTo>
                    <a:pt x="5905" y="356996"/>
                  </a:lnTo>
                  <a:lnTo>
                    <a:pt x="22034" y="380873"/>
                  </a:lnTo>
                  <a:lnTo>
                    <a:pt x="45935" y="397001"/>
                  </a:lnTo>
                  <a:lnTo>
                    <a:pt x="75222" y="402970"/>
                  </a:lnTo>
                  <a:lnTo>
                    <a:pt x="327685" y="402970"/>
                  </a:lnTo>
                  <a:lnTo>
                    <a:pt x="356958" y="397001"/>
                  </a:lnTo>
                  <a:lnTo>
                    <a:pt x="380873" y="380873"/>
                  </a:lnTo>
                  <a:lnTo>
                    <a:pt x="396989" y="356996"/>
                  </a:lnTo>
                  <a:lnTo>
                    <a:pt x="402907" y="327659"/>
                  </a:lnTo>
                  <a:lnTo>
                    <a:pt x="402907" y="75183"/>
                  </a:lnTo>
                  <a:lnTo>
                    <a:pt x="397179" y="46481"/>
                  </a:lnTo>
                  <a:lnTo>
                    <a:pt x="369417" y="12700"/>
                  </a:lnTo>
                  <a:lnTo>
                    <a:pt x="327685" y="0"/>
                  </a:lnTo>
                  <a:close/>
                </a:path>
              </a:pathLst>
            </a:custGeom>
            <a:solidFill>
              <a:srgbClr val="DEEBE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16">
              <a:extLst>
                <a:ext uri="{FF2B5EF4-FFF2-40B4-BE49-F238E27FC236}">
                  <a16:creationId xmlns:a16="http://schemas.microsoft.com/office/drawing/2014/main" id="{3D1CA6ED-489E-75DE-8821-FECAAB84C5B7}"/>
                </a:ext>
              </a:extLst>
            </p:cNvPr>
            <p:cNvSpPr/>
            <p:nvPr/>
          </p:nvSpPr>
          <p:spPr>
            <a:xfrm>
              <a:off x="626745" y="412407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0" y="75183"/>
                  </a:moveTo>
                  <a:lnTo>
                    <a:pt x="5905" y="45974"/>
                  </a:lnTo>
                  <a:lnTo>
                    <a:pt x="22034" y="22098"/>
                  </a:lnTo>
                  <a:lnTo>
                    <a:pt x="45935" y="5968"/>
                  </a:lnTo>
                  <a:lnTo>
                    <a:pt x="75222" y="0"/>
                  </a:lnTo>
                  <a:lnTo>
                    <a:pt x="327685" y="0"/>
                  </a:lnTo>
                  <a:lnTo>
                    <a:pt x="369417" y="12700"/>
                  </a:lnTo>
                  <a:lnTo>
                    <a:pt x="397179" y="46481"/>
                  </a:lnTo>
                  <a:lnTo>
                    <a:pt x="402907" y="75183"/>
                  </a:lnTo>
                  <a:lnTo>
                    <a:pt x="402907" y="327659"/>
                  </a:lnTo>
                  <a:lnTo>
                    <a:pt x="396989" y="356996"/>
                  </a:lnTo>
                  <a:lnTo>
                    <a:pt x="380873" y="380873"/>
                  </a:lnTo>
                  <a:lnTo>
                    <a:pt x="356958" y="397001"/>
                  </a:lnTo>
                  <a:lnTo>
                    <a:pt x="327685" y="402970"/>
                  </a:lnTo>
                  <a:lnTo>
                    <a:pt x="75222" y="402970"/>
                  </a:lnTo>
                  <a:lnTo>
                    <a:pt x="45935" y="397001"/>
                  </a:lnTo>
                  <a:lnTo>
                    <a:pt x="22034" y="380873"/>
                  </a:lnTo>
                  <a:lnTo>
                    <a:pt x="5905" y="356996"/>
                  </a:lnTo>
                  <a:lnTo>
                    <a:pt x="0" y="327659"/>
                  </a:lnTo>
                  <a:lnTo>
                    <a:pt x="0" y="75183"/>
                  </a:lnTo>
                  <a:close/>
                </a:path>
              </a:pathLst>
            </a:custGeom>
            <a:ln w="9523">
              <a:solidFill>
                <a:srgbClr val="C5D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8C4F947E-F2F0-B510-3F13-68E35243A1FC}"/>
              </a:ext>
            </a:extLst>
          </p:cNvPr>
          <p:cNvSpPr txBox="1"/>
          <p:nvPr/>
        </p:nvSpPr>
        <p:spPr>
          <a:xfrm>
            <a:off x="1354564" y="5731081"/>
            <a:ext cx="7315200" cy="379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26299"/>
              </a:lnSpc>
              <a:spcBef>
                <a:spcPts val="100"/>
              </a:spcBef>
            </a:pPr>
            <a:r>
              <a:rPr lang="en-US" sz="1600" dirty="0">
                <a:latin typeface="+mn-lt"/>
              </a:rPr>
              <a:t>SUID / SGID binaries</a:t>
            </a:r>
            <a:endParaRPr lang="en-US" sz="1600" dirty="0">
              <a:latin typeface="+mn-lt"/>
              <a:cs typeface="Lucida Sans Unicode"/>
            </a:endParaRPr>
          </a:p>
        </p:txBody>
      </p:sp>
      <p:grpSp>
        <p:nvGrpSpPr>
          <p:cNvPr id="30" name="object 14">
            <a:extLst>
              <a:ext uri="{FF2B5EF4-FFF2-40B4-BE49-F238E27FC236}">
                <a16:creationId xmlns:a16="http://schemas.microsoft.com/office/drawing/2014/main" id="{DE1DA5E1-F2E3-267C-226B-C79BE76948AB}"/>
              </a:ext>
            </a:extLst>
          </p:cNvPr>
          <p:cNvGrpSpPr/>
          <p:nvPr/>
        </p:nvGrpSpPr>
        <p:grpSpPr>
          <a:xfrm>
            <a:off x="935496" y="4498641"/>
            <a:ext cx="411790" cy="368957"/>
            <a:chOff x="621983" y="4119309"/>
            <a:chExt cx="412750" cy="412750"/>
          </a:xfrm>
        </p:grpSpPr>
        <p:sp>
          <p:nvSpPr>
            <p:cNvPr id="31" name="object 15">
              <a:extLst>
                <a:ext uri="{FF2B5EF4-FFF2-40B4-BE49-F238E27FC236}">
                  <a16:creationId xmlns:a16="http://schemas.microsoft.com/office/drawing/2014/main" id="{96EADC32-FECE-C475-B327-755DBA1515AB}"/>
                </a:ext>
              </a:extLst>
            </p:cNvPr>
            <p:cNvSpPr/>
            <p:nvPr/>
          </p:nvSpPr>
          <p:spPr>
            <a:xfrm>
              <a:off x="626745" y="412407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327685" y="0"/>
                  </a:moveTo>
                  <a:lnTo>
                    <a:pt x="75222" y="0"/>
                  </a:lnTo>
                  <a:lnTo>
                    <a:pt x="45935" y="5968"/>
                  </a:lnTo>
                  <a:lnTo>
                    <a:pt x="22034" y="22098"/>
                  </a:lnTo>
                  <a:lnTo>
                    <a:pt x="5905" y="45974"/>
                  </a:lnTo>
                  <a:lnTo>
                    <a:pt x="0" y="75183"/>
                  </a:lnTo>
                  <a:lnTo>
                    <a:pt x="0" y="327659"/>
                  </a:lnTo>
                  <a:lnTo>
                    <a:pt x="5905" y="356996"/>
                  </a:lnTo>
                  <a:lnTo>
                    <a:pt x="22034" y="380873"/>
                  </a:lnTo>
                  <a:lnTo>
                    <a:pt x="45935" y="397001"/>
                  </a:lnTo>
                  <a:lnTo>
                    <a:pt x="75222" y="402970"/>
                  </a:lnTo>
                  <a:lnTo>
                    <a:pt x="327685" y="402970"/>
                  </a:lnTo>
                  <a:lnTo>
                    <a:pt x="356958" y="397001"/>
                  </a:lnTo>
                  <a:lnTo>
                    <a:pt x="380873" y="380873"/>
                  </a:lnTo>
                  <a:lnTo>
                    <a:pt x="396989" y="356996"/>
                  </a:lnTo>
                  <a:lnTo>
                    <a:pt x="402907" y="327659"/>
                  </a:lnTo>
                  <a:lnTo>
                    <a:pt x="402907" y="75183"/>
                  </a:lnTo>
                  <a:lnTo>
                    <a:pt x="397179" y="46481"/>
                  </a:lnTo>
                  <a:lnTo>
                    <a:pt x="369417" y="12700"/>
                  </a:lnTo>
                  <a:lnTo>
                    <a:pt x="327685" y="0"/>
                  </a:lnTo>
                  <a:close/>
                </a:path>
              </a:pathLst>
            </a:custGeom>
            <a:solidFill>
              <a:srgbClr val="DEEBE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2" name="object 16">
              <a:extLst>
                <a:ext uri="{FF2B5EF4-FFF2-40B4-BE49-F238E27FC236}">
                  <a16:creationId xmlns:a16="http://schemas.microsoft.com/office/drawing/2014/main" id="{96455C2D-B400-E9EC-1E28-1EEDEE740200}"/>
                </a:ext>
              </a:extLst>
            </p:cNvPr>
            <p:cNvSpPr/>
            <p:nvPr/>
          </p:nvSpPr>
          <p:spPr>
            <a:xfrm>
              <a:off x="626745" y="412407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0" y="75183"/>
                  </a:moveTo>
                  <a:lnTo>
                    <a:pt x="5905" y="45974"/>
                  </a:lnTo>
                  <a:lnTo>
                    <a:pt x="22034" y="22098"/>
                  </a:lnTo>
                  <a:lnTo>
                    <a:pt x="45935" y="5968"/>
                  </a:lnTo>
                  <a:lnTo>
                    <a:pt x="75222" y="0"/>
                  </a:lnTo>
                  <a:lnTo>
                    <a:pt x="327685" y="0"/>
                  </a:lnTo>
                  <a:lnTo>
                    <a:pt x="369417" y="12700"/>
                  </a:lnTo>
                  <a:lnTo>
                    <a:pt x="397179" y="46481"/>
                  </a:lnTo>
                  <a:lnTo>
                    <a:pt x="402907" y="75183"/>
                  </a:lnTo>
                  <a:lnTo>
                    <a:pt x="402907" y="327659"/>
                  </a:lnTo>
                  <a:lnTo>
                    <a:pt x="396989" y="356996"/>
                  </a:lnTo>
                  <a:lnTo>
                    <a:pt x="380873" y="380873"/>
                  </a:lnTo>
                  <a:lnTo>
                    <a:pt x="356958" y="397001"/>
                  </a:lnTo>
                  <a:lnTo>
                    <a:pt x="327685" y="402970"/>
                  </a:lnTo>
                  <a:lnTo>
                    <a:pt x="75222" y="402970"/>
                  </a:lnTo>
                  <a:lnTo>
                    <a:pt x="45935" y="397001"/>
                  </a:lnTo>
                  <a:lnTo>
                    <a:pt x="22034" y="380873"/>
                  </a:lnTo>
                  <a:lnTo>
                    <a:pt x="5905" y="356996"/>
                  </a:lnTo>
                  <a:lnTo>
                    <a:pt x="0" y="327659"/>
                  </a:lnTo>
                  <a:lnTo>
                    <a:pt x="0" y="75183"/>
                  </a:lnTo>
                  <a:close/>
                </a:path>
              </a:pathLst>
            </a:custGeom>
            <a:ln w="9523">
              <a:solidFill>
                <a:srgbClr val="C5D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AAE5AA1-7A15-FA7F-8739-2943A5CF147A}"/>
              </a:ext>
            </a:extLst>
          </p:cNvPr>
          <p:cNvSpPr txBox="1"/>
          <p:nvPr/>
        </p:nvSpPr>
        <p:spPr>
          <a:xfrm>
            <a:off x="1383323" y="4458557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</a:rPr>
              <a:t>Running</a:t>
            </a:r>
            <a:r>
              <a:rPr lang="en-US" dirty="0">
                <a:latin typeface="+mn-lt"/>
              </a:rPr>
              <a:t> &amp; enabled services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A498FA-C818-8F99-81F1-564BEF6EB343}"/>
              </a:ext>
            </a:extLst>
          </p:cNvPr>
          <p:cNvSpPr txBox="1"/>
          <p:nvPr/>
        </p:nvSpPr>
        <p:spPr>
          <a:xfrm>
            <a:off x="152400" y="7784287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0" dirty="0">
                <a:solidFill>
                  <a:srgbClr val="2C3048"/>
                </a:solidFill>
                <a:latin typeface="+mn-lt"/>
                <a:cs typeface="Arial"/>
              </a:rPr>
              <a:t>12/25/2025</a:t>
            </a:r>
          </a:p>
        </p:txBody>
      </p:sp>
      <p:pic>
        <p:nvPicPr>
          <p:cNvPr id="35" name="Picture 34" descr="A hand pointing at a screen&#10;&#10;AI-generated content may be incorrect.">
            <a:extLst>
              <a:ext uri="{FF2B5EF4-FFF2-40B4-BE49-F238E27FC236}">
                <a16:creationId xmlns:a16="http://schemas.microsoft.com/office/drawing/2014/main" id="{9BCF1CC7-0C1C-9BF6-32DE-B5597DBC2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972774"/>
            <a:ext cx="6373114" cy="2124371"/>
          </a:xfrm>
          <a:prstGeom prst="rect">
            <a:avLst/>
          </a:prstGeom>
        </p:spPr>
      </p:pic>
      <p:pic>
        <p:nvPicPr>
          <p:cNvPr id="38" name="Picture 37" descr="A hand pointing at a screen&#10;&#10;AI-generated content may be incorrect.">
            <a:extLst>
              <a:ext uri="{FF2B5EF4-FFF2-40B4-BE49-F238E27FC236}">
                <a16:creationId xmlns:a16="http://schemas.microsoft.com/office/drawing/2014/main" id="{97ACB49B-4CEC-6C59-8034-50EDB2A23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5128677"/>
            <a:ext cx="6296914" cy="21159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184266"/>
            <a:ext cx="1463040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4800" dirty="0"/>
              <a:t>Policy-based Security?</a:t>
            </a:r>
            <a:endParaRPr sz="4800"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11"/>
          </p:nvPr>
        </p:nvSpPr>
        <p:spPr>
          <a:xfrm>
            <a:off x="4070838" y="7790469"/>
            <a:ext cx="8991600" cy="1678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9605">
              <a:lnSpc>
                <a:spcPts val="1810"/>
              </a:lnSpc>
            </a:pPr>
            <a:r>
              <a:rPr lang="en-US" sz="1800" dirty="0" err="1"/>
              <a:t>SentinelShield</a:t>
            </a:r>
            <a:r>
              <a:rPr lang="en-US" sz="1800" dirty="0"/>
              <a:t>: Advanced Linux Security Hardening &amp; Threat Audit Framework</a:t>
            </a:r>
          </a:p>
          <a:p>
            <a:pPr marL="649605">
              <a:lnSpc>
                <a:spcPts val="1810"/>
              </a:lnSpc>
            </a:pPr>
            <a:endParaRPr lang="en-US" sz="1800" spc="-10" dirty="0"/>
          </a:p>
          <a:p>
            <a:pPr marL="649605">
              <a:lnSpc>
                <a:spcPts val="1810"/>
              </a:lnSpc>
            </a:pPr>
            <a:endParaRPr lang="en-US" sz="1800" spc="-10" dirty="0"/>
          </a:p>
          <a:p>
            <a:pPr marL="12700">
              <a:lnSpc>
                <a:spcPts val="1810"/>
              </a:lnSpc>
            </a:pPr>
            <a:endParaRPr lang="en-US" sz="1800" spc="-10" dirty="0"/>
          </a:p>
          <a:p>
            <a:pPr marL="88900">
              <a:lnSpc>
                <a:spcPts val="1810"/>
              </a:lnSpc>
            </a:pPr>
            <a:endParaRPr lang="en-US" sz="1800" spc="-10" dirty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800" dirty="0"/>
          </a:p>
          <a:p>
            <a:pPr marL="344805">
              <a:lnSpc>
                <a:spcPts val="1810"/>
              </a:lnSpc>
            </a:pPr>
            <a:endParaRPr sz="1800" spc="-1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xfrm>
            <a:off x="14020801" y="7771343"/>
            <a:ext cx="152399" cy="245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230">
              <a:lnSpc>
                <a:spcPts val="209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507943" y="3425004"/>
            <a:ext cx="6488717" cy="18004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/>
              <a:t>                      sentinel_policy.ini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Lucida Sans Unicode"/>
                <a:cs typeface="Lucida Sans Unicode"/>
              </a:rPr>
              <a:t> </a:t>
            </a:r>
          </a:p>
          <a:p>
            <a:r>
              <a:rPr lang="en-US" sz="1600" spc="10" dirty="0">
                <a:solidFill>
                  <a:srgbClr val="2C3048"/>
                </a:solidFill>
                <a:latin typeface="Arial"/>
                <a:cs typeface="Arial"/>
              </a:rPr>
              <a:t>   </a:t>
            </a:r>
            <a:r>
              <a:rPr lang="en-US" sz="1600" dirty="0"/>
              <a:t>                           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rules: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PermitRootLogin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no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PasswordAuthentication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no</a:t>
            </a: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endParaRPr sz="1050" dirty="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21805" y="3265188"/>
            <a:ext cx="4745595" cy="1797605"/>
            <a:chOff x="7472044" y="2132710"/>
            <a:chExt cx="7118024" cy="1751964"/>
          </a:xfrm>
        </p:grpSpPr>
        <p:sp>
          <p:nvSpPr>
            <p:cNvPr id="8" name="object 8"/>
            <p:cNvSpPr/>
            <p:nvPr/>
          </p:nvSpPr>
          <p:spPr>
            <a:xfrm>
              <a:off x="7472044" y="2132710"/>
              <a:ext cx="6737984" cy="1751964"/>
            </a:xfrm>
            <a:custGeom>
              <a:avLst/>
              <a:gdLst/>
              <a:ahLst/>
              <a:cxnLst/>
              <a:rect l="l" t="t" r="r" b="b"/>
              <a:pathLst>
                <a:path w="6737984" h="1751964">
                  <a:moveTo>
                    <a:pt x="0" y="82803"/>
                  </a:moveTo>
                  <a:lnTo>
                    <a:pt x="6476" y="50546"/>
                  </a:lnTo>
                  <a:lnTo>
                    <a:pt x="24129" y="24256"/>
                  </a:lnTo>
                  <a:lnTo>
                    <a:pt x="50546" y="6603"/>
                  </a:lnTo>
                  <a:lnTo>
                    <a:pt x="82676" y="0"/>
                  </a:lnTo>
                  <a:lnTo>
                    <a:pt x="6654926" y="0"/>
                  </a:lnTo>
                  <a:lnTo>
                    <a:pt x="6700774" y="13969"/>
                  </a:lnTo>
                  <a:lnTo>
                    <a:pt x="6731381" y="51180"/>
                  </a:lnTo>
                  <a:lnTo>
                    <a:pt x="6737603" y="82803"/>
                  </a:lnTo>
                  <a:lnTo>
                    <a:pt x="6737603" y="1669034"/>
                  </a:lnTo>
                  <a:lnTo>
                    <a:pt x="6731126" y="1701164"/>
                  </a:lnTo>
                  <a:lnTo>
                    <a:pt x="6713474" y="1727580"/>
                  </a:lnTo>
                  <a:lnTo>
                    <a:pt x="6687185" y="1745234"/>
                  </a:lnTo>
                  <a:lnTo>
                    <a:pt x="6654926" y="1751711"/>
                  </a:lnTo>
                  <a:lnTo>
                    <a:pt x="82676" y="1751711"/>
                  </a:lnTo>
                  <a:lnTo>
                    <a:pt x="50546" y="1745234"/>
                  </a:lnTo>
                  <a:lnTo>
                    <a:pt x="24129" y="1727580"/>
                  </a:lnTo>
                  <a:lnTo>
                    <a:pt x="6476" y="1701164"/>
                  </a:lnTo>
                  <a:lnTo>
                    <a:pt x="0" y="1669034"/>
                  </a:lnTo>
                  <a:lnTo>
                    <a:pt x="0" y="82803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67323" y="2161533"/>
              <a:ext cx="6722745" cy="575945"/>
            </a:xfrm>
            <a:custGeom>
              <a:avLst/>
              <a:gdLst/>
              <a:ahLst/>
              <a:cxnLst/>
              <a:rect l="l" t="t" r="r" b="b"/>
              <a:pathLst>
                <a:path w="6722744" h="575944">
                  <a:moveTo>
                    <a:pt x="6722363" y="0"/>
                  </a:moveTo>
                  <a:lnTo>
                    <a:pt x="0" y="0"/>
                  </a:lnTo>
                  <a:lnTo>
                    <a:pt x="0" y="575703"/>
                  </a:lnTo>
                  <a:lnTo>
                    <a:pt x="6722363" y="575703"/>
                  </a:lnTo>
                  <a:lnTo>
                    <a:pt x="6722363" y="0"/>
                  </a:lnTo>
                  <a:close/>
                </a:path>
              </a:pathLst>
            </a:custGeom>
            <a:solidFill>
              <a:srgbClr val="FFFFFF">
                <a:alpha val="3137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9" name="object 7">
            <a:extLst>
              <a:ext uri="{FF2B5EF4-FFF2-40B4-BE49-F238E27FC236}">
                <a16:creationId xmlns:a16="http://schemas.microsoft.com/office/drawing/2014/main" id="{C18E8504-1858-7982-612B-CD0CC4D03938}"/>
              </a:ext>
            </a:extLst>
          </p:cNvPr>
          <p:cNvGrpSpPr/>
          <p:nvPr/>
        </p:nvGrpSpPr>
        <p:grpSpPr>
          <a:xfrm>
            <a:off x="1121805" y="5328207"/>
            <a:ext cx="4745595" cy="1717128"/>
            <a:chOff x="7472044" y="2132710"/>
            <a:chExt cx="7022979" cy="1751964"/>
          </a:xfrm>
        </p:grpSpPr>
        <p:sp>
          <p:nvSpPr>
            <p:cNvPr id="20" name="object 8">
              <a:extLst>
                <a:ext uri="{FF2B5EF4-FFF2-40B4-BE49-F238E27FC236}">
                  <a16:creationId xmlns:a16="http://schemas.microsoft.com/office/drawing/2014/main" id="{1A835A07-53E2-0CE1-CBE1-843FCD365D8B}"/>
                </a:ext>
              </a:extLst>
            </p:cNvPr>
            <p:cNvSpPr/>
            <p:nvPr/>
          </p:nvSpPr>
          <p:spPr>
            <a:xfrm>
              <a:off x="7472044" y="2132710"/>
              <a:ext cx="6737984" cy="1751964"/>
            </a:xfrm>
            <a:custGeom>
              <a:avLst/>
              <a:gdLst/>
              <a:ahLst/>
              <a:cxnLst/>
              <a:rect l="l" t="t" r="r" b="b"/>
              <a:pathLst>
                <a:path w="6737984" h="1751964">
                  <a:moveTo>
                    <a:pt x="0" y="82803"/>
                  </a:moveTo>
                  <a:lnTo>
                    <a:pt x="6476" y="50546"/>
                  </a:lnTo>
                  <a:lnTo>
                    <a:pt x="24129" y="24256"/>
                  </a:lnTo>
                  <a:lnTo>
                    <a:pt x="50546" y="6603"/>
                  </a:lnTo>
                  <a:lnTo>
                    <a:pt x="82676" y="0"/>
                  </a:lnTo>
                  <a:lnTo>
                    <a:pt x="6654926" y="0"/>
                  </a:lnTo>
                  <a:lnTo>
                    <a:pt x="6700774" y="13969"/>
                  </a:lnTo>
                  <a:lnTo>
                    <a:pt x="6731381" y="51180"/>
                  </a:lnTo>
                  <a:lnTo>
                    <a:pt x="6737603" y="82803"/>
                  </a:lnTo>
                  <a:lnTo>
                    <a:pt x="6737603" y="1669034"/>
                  </a:lnTo>
                  <a:lnTo>
                    <a:pt x="6731126" y="1701164"/>
                  </a:lnTo>
                  <a:lnTo>
                    <a:pt x="6713474" y="1727580"/>
                  </a:lnTo>
                  <a:lnTo>
                    <a:pt x="6687185" y="1745234"/>
                  </a:lnTo>
                  <a:lnTo>
                    <a:pt x="6654926" y="1751711"/>
                  </a:lnTo>
                  <a:lnTo>
                    <a:pt x="82676" y="1751711"/>
                  </a:lnTo>
                  <a:lnTo>
                    <a:pt x="50546" y="1745234"/>
                  </a:lnTo>
                  <a:lnTo>
                    <a:pt x="24129" y="1727580"/>
                  </a:lnTo>
                  <a:lnTo>
                    <a:pt x="6476" y="1701164"/>
                  </a:lnTo>
                  <a:lnTo>
                    <a:pt x="0" y="1669034"/>
                  </a:lnTo>
                  <a:lnTo>
                    <a:pt x="0" y="82803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9">
              <a:extLst>
                <a:ext uri="{FF2B5EF4-FFF2-40B4-BE49-F238E27FC236}">
                  <a16:creationId xmlns:a16="http://schemas.microsoft.com/office/drawing/2014/main" id="{9F5EEF88-110A-756C-C5D9-907C64089B29}"/>
                </a:ext>
              </a:extLst>
            </p:cNvPr>
            <p:cNvSpPr/>
            <p:nvPr/>
          </p:nvSpPr>
          <p:spPr>
            <a:xfrm>
              <a:off x="7772278" y="2179672"/>
              <a:ext cx="6722745" cy="575945"/>
            </a:xfrm>
            <a:custGeom>
              <a:avLst/>
              <a:gdLst/>
              <a:ahLst/>
              <a:cxnLst/>
              <a:rect l="l" t="t" r="r" b="b"/>
              <a:pathLst>
                <a:path w="6722744" h="575944">
                  <a:moveTo>
                    <a:pt x="6722363" y="0"/>
                  </a:moveTo>
                  <a:lnTo>
                    <a:pt x="0" y="0"/>
                  </a:lnTo>
                  <a:lnTo>
                    <a:pt x="0" y="575703"/>
                  </a:lnTo>
                  <a:lnTo>
                    <a:pt x="6722363" y="575703"/>
                  </a:lnTo>
                  <a:lnTo>
                    <a:pt x="6722363" y="0"/>
                  </a:lnTo>
                  <a:close/>
                </a:path>
              </a:pathLst>
            </a:custGeom>
            <a:solidFill>
              <a:srgbClr val="FFFFFF">
                <a:alpha val="3137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14051C4A-E09E-4B78-E860-6FB1553E5C07}"/>
              </a:ext>
            </a:extLst>
          </p:cNvPr>
          <p:cNvSpPr txBox="1"/>
          <p:nvPr/>
        </p:nvSpPr>
        <p:spPr>
          <a:xfrm>
            <a:off x="2412675" y="543143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Rule Logic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C80C8F48-4F52-6847-D435-B6629DE6E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2082" y="6030366"/>
            <a:ext cx="387246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Unset configuration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NON-COMPLIANT (FAIL)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 / FAIL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AC8BA-A19F-BEE6-A4A6-E4EA250F8C81}"/>
              </a:ext>
            </a:extLst>
          </p:cNvPr>
          <p:cNvSpPr txBox="1"/>
          <p:nvPr/>
        </p:nvSpPr>
        <p:spPr>
          <a:xfrm>
            <a:off x="152400" y="7800651"/>
            <a:ext cx="8118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0" dirty="0">
                <a:solidFill>
                  <a:srgbClr val="2C3048"/>
                </a:solidFill>
                <a:latin typeface="+mn-lt"/>
                <a:cs typeface="Arial"/>
              </a:rPr>
              <a:t>12/25/2025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A7B666A-4BDA-BBE6-0BA4-2FC3517E8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535" y="2989661"/>
            <a:ext cx="4869900" cy="3703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849" y="1022169"/>
            <a:ext cx="8419999" cy="7391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900"/>
              </a:lnSpc>
              <a:spcBef>
                <a:spcPts val="100"/>
              </a:spcBef>
            </a:pPr>
            <a:r>
              <a:rPr lang="en-US" sz="4000" dirty="0"/>
              <a:t>SSH Hardening (Safe Design)</a:t>
            </a:r>
            <a:endParaRPr sz="3700" dirty="0"/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11"/>
          </p:nvPr>
        </p:nvSpPr>
        <p:spPr>
          <a:xfrm>
            <a:off x="3076750" y="7832590"/>
            <a:ext cx="8618297" cy="19088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9605">
              <a:lnSpc>
                <a:spcPts val="1810"/>
              </a:lnSpc>
            </a:pPr>
            <a:r>
              <a:rPr lang="en-US" sz="1800" dirty="0" err="1"/>
              <a:t>SentinelShield</a:t>
            </a:r>
            <a:r>
              <a:rPr lang="en-US" sz="1800" dirty="0"/>
              <a:t>: Advanced Linux Security Hardening &amp; Threat Audit Framework</a:t>
            </a:r>
          </a:p>
          <a:p>
            <a:pPr marL="649605">
              <a:lnSpc>
                <a:spcPts val="1810"/>
              </a:lnSpc>
            </a:pPr>
            <a:endParaRPr lang="en-US" sz="1800" spc="-10" dirty="0"/>
          </a:p>
          <a:p>
            <a:pPr marL="649605">
              <a:lnSpc>
                <a:spcPts val="1810"/>
              </a:lnSpc>
            </a:pPr>
            <a:endParaRPr lang="en-US" sz="1800" spc="-10" dirty="0"/>
          </a:p>
          <a:p>
            <a:pPr marL="12700">
              <a:lnSpc>
                <a:spcPts val="1810"/>
              </a:lnSpc>
            </a:pPr>
            <a:endParaRPr lang="en-US" sz="1800" spc="-10" dirty="0"/>
          </a:p>
          <a:p>
            <a:pPr marL="88900">
              <a:lnSpc>
                <a:spcPts val="1810"/>
              </a:lnSpc>
            </a:pPr>
            <a:endParaRPr lang="en-US" sz="1800" spc="-10" dirty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800" dirty="0"/>
          </a:p>
          <a:p>
            <a:pPr marL="344805">
              <a:lnSpc>
                <a:spcPts val="1810"/>
              </a:lnSpc>
            </a:pPr>
            <a:endParaRPr lang="en-US" sz="1800" spc="-10" dirty="0"/>
          </a:p>
          <a:p>
            <a:pPr marL="344805">
              <a:lnSpc>
                <a:spcPts val="1810"/>
              </a:lnSpc>
            </a:pPr>
            <a:endParaRPr sz="1800" spc="-10" dirty="0"/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230">
              <a:lnSpc>
                <a:spcPts val="209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1780399" y="2410082"/>
            <a:ext cx="1193863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Hardening Steps</a:t>
            </a:r>
            <a:r>
              <a:rPr sz="2000" spc="-10" dirty="0">
                <a:solidFill>
                  <a:srgbClr val="2C30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43277" y="3056005"/>
            <a:ext cx="3670605" cy="3293209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R="196850">
              <a:lnSpc>
                <a:spcPct val="100000"/>
              </a:lnSpc>
              <a:spcBef>
                <a:spcPts val="1260"/>
              </a:spcBef>
            </a:pPr>
            <a:r>
              <a:rPr sz="1850" spc="-145" dirty="0">
                <a:solidFill>
                  <a:srgbClr val="2C3048"/>
                </a:solidFill>
                <a:latin typeface="Lucida Sans Unicode"/>
                <a:cs typeface="Lucida Sans Unicode"/>
              </a:rPr>
              <a:t> </a:t>
            </a:r>
            <a:r>
              <a:rPr sz="1850" spc="-95" dirty="0">
                <a:solidFill>
                  <a:srgbClr val="2C3048"/>
                </a:solidFill>
                <a:latin typeface="Lucida Sans Unicode"/>
                <a:cs typeface="Lucida Sans Unicode"/>
              </a:rPr>
              <a:t>1: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 backup of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sshd_config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196850">
              <a:lnSpc>
                <a:spcPct val="100000"/>
              </a:lnSpc>
              <a:spcBef>
                <a:spcPts val="126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Apply policy values</a:t>
            </a:r>
          </a:p>
          <a:p>
            <a:pPr marR="196850">
              <a:lnSpc>
                <a:spcPct val="100000"/>
              </a:lnSpc>
              <a:spcBef>
                <a:spcPts val="126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Validate using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sshd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–t </a:t>
            </a:r>
          </a:p>
          <a:p>
            <a:pPr marR="196850">
              <a:lnSpc>
                <a:spcPct val="100000"/>
              </a:lnSpc>
              <a:spcBef>
                <a:spcPts val="1260"/>
              </a:spcBef>
            </a:pPr>
            <a:endParaRPr lang="en-US" sz="2000" dirty="0"/>
          </a:p>
          <a:p>
            <a:pPr marR="196850" algn="ctr">
              <a:lnSpc>
                <a:spcPct val="100000"/>
              </a:lnSpc>
              <a:spcBef>
                <a:spcPts val="1260"/>
              </a:spcBef>
            </a:pPr>
            <a:endParaRPr lang="en-US" sz="2000" dirty="0"/>
          </a:p>
          <a:p>
            <a:pPr marR="196850" algn="ctr">
              <a:lnSpc>
                <a:spcPct val="100000"/>
              </a:lnSpc>
              <a:spcBef>
                <a:spcPts val="1260"/>
              </a:spcBef>
            </a:pPr>
            <a:endParaRPr lang="en-US" sz="2000" dirty="0"/>
          </a:p>
          <a:p>
            <a:pPr marR="196850" algn="ctr">
              <a:lnSpc>
                <a:spcPct val="100000"/>
              </a:lnSpc>
              <a:spcBef>
                <a:spcPts val="1260"/>
              </a:spcBef>
            </a:pPr>
            <a:endParaRPr sz="1850" dirty="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1091" y="4608098"/>
            <a:ext cx="5780405" cy="58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>
              <a:lnSpc>
                <a:spcPct val="100000"/>
              </a:lnSpc>
              <a:spcBef>
                <a:spcPts val="100"/>
              </a:spcBef>
            </a:pPr>
            <a:r>
              <a:rPr lang="en-US" sz="1850" spc="-75" dirty="0">
                <a:solidFill>
                  <a:srgbClr val="2C3048"/>
                </a:solidFill>
                <a:latin typeface="Lucida Sans Unicode"/>
                <a:cs typeface="Lucida Sans Unicode"/>
              </a:rPr>
              <a:t>4.</a:t>
            </a:r>
            <a:r>
              <a:rPr sz="1850" spc="-350" dirty="0">
                <a:solidFill>
                  <a:srgbClr val="2C3048"/>
                </a:solidFill>
                <a:latin typeface="Lucida Sans Unicode"/>
                <a:cs typeface="Lucida Sans Unicode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Restart SSH service</a:t>
            </a:r>
          </a:p>
          <a:p>
            <a:pPr marL="127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Auto-rollback on failure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790891" y="5734575"/>
            <a:ext cx="4213059" cy="1675368"/>
            <a:chOff x="656031" y="5667185"/>
            <a:chExt cx="4319905" cy="1747520"/>
          </a:xfrm>
        </p:grpSpPr>
        <p:sp>
          <p:nvSpPr>
            <p:cNvPr id="15" name="object 15"/>
            <p:cNvSpPr/>
            <p:nvPr/>
          </p:nvSpPr>
          <p:spPr>
            <a:xfrm>
              <a:off x="660793" y="5671947"/>
              <a:ext cx="4310380" cy="1737995"/>
            </a:xfrm>
            <a:custGeom>
              <a:avLst/>
              <a:gdLst/>
              <a:ahLst/>
              <a:cxnLst/>
              <a:rect l="l" t="t" r="r" b="b"/>
              <a:pathLst>
                <a:path w="4310380" h="1737995">
                  <a:moveTo>
                    <a:pt x="4231119" y="0"/>
                  </a:moveTo>
                  <a:lnTo>
                    <a:pt x="79311" y="0"/>
                  </a:lnTo>
                  <a:lnTo>
                    <a:pt x="48437" y="6222"/>
                  </a:lnTo>
                  <a:lnTo>
                    <a:pt x="23228" y="23113"/>
                  </a:lnTo>
                  <a:lnTo>
                    <a:pt x="6235" y="48386"/>
                  </a:lnTo>
                  <a:lnTo>
                    <a:pt x="0" y="79247"/>
                  </a:lnTo>
                  <a:lnTo>
                    <a:pt x="0" y="1658239"/>
                  </a:lnTo>
                  <a:lnTo>
                    <a:pt x="6235" y="1689112"/>
                  </a:lnTo>
                  <a:lnTo>
                    <a:pt x="23228" y="1714322"/>
                  </a:lnTo>
                  <a:lnTo>
                    <a:pt x="48437" y="1731314"/>
                  </a:lnTo>
                  <a:lnTo>
                    <a:pt x="79311" y="1737550"/>
                  </a:lnTo>
                  <a:lnTo>
                    <a:pt x="4231119" y="1737550"/>
                  </a:lnTo>
                  <a:lnTo>
                    <a:pt x="4261980" y="1731314"/>
                  </a:lnTo>
                  <a:lnTo>
                    <a:pt x="4287253" y="1714322"/>
                  </a:lnTo>
                  <a:lnTo>
                    <a:pt x="4304144" y="1689112"/>
                  </a:lnTo>
                  <a:lnTo>
                    <a:pt x="4310367" y="1658239"/>
                  </a:lnTo>
                  <a:lnTo>
                    <a:pt x="4310367" y="79247"/>
                  </a:lnTo>
                  <a:lnTo>
                    <a:pt x="4304398" y="48894"/>
                  </a:lnTo>
                  <a:lnTo>
                    <a:pt x="4275061" y="13334"/>
                  </a:lnTo>
                  <a:lnTo>
                    <a:pt x="4231119" y="0"/>
                  </a:lnTo>
                  <a:close/>
                </a:path>
              </a:pathLst>
            </a:custGeom>
            <a:solidFill>
              <a:srgbClr val="DE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0793" y="5671947"/>
              <a:ext cx="4310380" cy="1737995"/>
            </a:xfrm>
            <a:custGeom>
              <a:avLst/>
              <a:gdLst/>
              <a:ahLst/>
              <a:cxnLst/>
              <a:rect l="l" t="t" r="r" b="b"/>
              <a:pathLst>
                <a:path w="4310380" h="1737995">
                  <a:moveTo>
                    <a:pt x="0" y="79247"/>
                  </a:moveTo>
                  <a:lnTo>
                    <a:pt x="6235" y="48386"/>
                  </a:lnTo>
                  <a:lnTo>
                    <a:pt x="23228" y="23113"/>
                  </a:lnTo>
                  <a:lnTo>
                    <a:pt x="48437" y="6222"/>
                  </a:lnTo>
                  <a:lnTo>
                    <a:pt x="79311" y="0"/>
                  </a:lnTo>
                  <a:lnTo>
                    <a:pt x="4231119" y="0"/>
                  </a:lnTo>
                  <a:lnTo>
                    <a:pt x="4275061" y="13334"/>
                  </a:lnTo>
                  <a:lnTo>
                    <a:pt x="4304398" y="48894"/>
                  </a:lnTo>
                  <a:lnTo>
                    <a:pt x="4310367" y="79247"/>
                  </a:lnTo>
                  <a:lnTo>
                    <a:pt x="4310367" y="1658239"/>
                  </a:lnTo>
                  <a:lnTo>
                    <a:pt x="4304144" y="1689112"/>
                  </a:lnTo>
                  <a:lnTo>
                    <a:pt x="4287253" y="1714322"/>
                  </a:lnTo>
                  <a:lnTo>
                    <a:pt x="4261980" y="1731314"/>
                  </a:lnTo>
                  <a:lnTo>
                    <a:pt x="4231119" y="1737550"/>
                  </a:lnTo>
                  <a:lnTo>
                    <a:pt x="79311" y="1737550"/>
                  </a:lnTo>
                  <a:lnTo>
                    <a:pt x="48437" y="1731314"/>
                  </a:lnTo>
                  <a:lnTo>
                    <a:pt x="23228" y="1714322"/>
                  </a:lnTo>
                  <a:lnTo>
                    <a:pt x="6235" y="1689112"/>
                  </a:lnTo>
                  <a:lnTo>
                    <a:pt x="0" y="1658239"/>
                  </a:lnTo>
                  <a:lnTo>
                    <a:pt x="0" y="79247"/>
                  </a:lnTo>
                  <a:close/>
                </a:path>
              </a:pathLst>
            </a:custGeom>
            <a:ln w="9523">
              <a:solidFill>
                <a:srgbClr val="510C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57135" y="5868289"/>
              <a:ext cx="566420" cy="566420"/>
            </a:xfrm>
            <a:custGeom>
              <a:avLst/>
              <a:gdLst/>
              <a:ahLst/>
              <a:cxnLst/>
              <a:rect l="l" t="t" r="r" b="b"/>
              <a:pathLst>
                <a:path w="566419" h="566420">
                  <a:moveTo>
                    <a:pt x="283184" y="0"/>
                  </a:moveTo>
                  <a:lnTo>
                    <a:pt x="237248" y="3683"/>
                  </a:lnTo>
                  <a:lnTo>
                    <a:pt x="193675" y="14350"/>
                  </a:lnTo>
                  <a:lnTo>
                    <a:pt x="153047" y="31496"/>
                  </a:lnTo>
                  <a:lnTo>
                    <a:pt x="115938" y="54610"/>
                  </a:lnTo>
                  <a:lnTo>
                    <a:pt x="82943" y="82931"/>
                  </a:lnTo>
                  <a:lnTo>
                    <a:pt x="54635" y="115824"/>
                  </a:lnTo>
                  <a:lnTo>
                    <a:pt x="31610" y="153035"/>
                  </a:lnTo>
                  <a:lnTo>
                    <a:pt x="14427" y="193675"/>
                  </a:lnTo>
                  <a:lnTo>
                    <a:pt x="3695" y="237236"/>
                  </a:lnTo>
                  <a:lnTo>
                    <a:pt x="0" y="283083"/>
                  </a:lnTo>
                  <a:lnTo>
                    <a:pt x="3695" y="329056"/>
                  </a:lnTo>
                  <a:lnTo>
                    <a:pt x="14427" y="372618"/>
                  </a:lnTo>
                  <a:lnTo>
                    <a:pt x="31610" y="413258"/>
                  </a:lnTo>
                  <a:lnTo>
                    <a:pt x="54635" y="450342"/>
                  </a:lnTo>
                  <a:lnTo>
                    <a:pt x="82943" y="483362"/>
                  </a:lnTo>
                  <a:lnTo>
                    <a:pt x="115938" y="511683"/>
                  </a:lnTo>
                  <a:lnTo>
                    <a:pt x="153047" y="534669"/>
                  </a:lnTo>
                  <a:lnTo>
                    <a:pt x="193675" y="551942"/>
                  </a:lnTo>
                  <a:lnTo>
                    <a:pt x="237248" y="562610"/>
                  </a:lnTo>
                  <a:lnTo>
                    <a:pt x="283184" y="566293"/>
                  </a:lnTo>
                  <a:lnTo>
                    <a:pt x="329120" y="562610"/>
                  </a:lnTo>
                  <a:lnTo>
                    <a:pt x="372694" y="551942"/>
                  </a:lnTo>
                  <a:lnTo>
                    <a:pt x="413372" y="534669"/>
                  </a:lnTo>
                  <a:lnTo>
                    <a:pt x="450456" y="511683"/>
                  </a:lnTo>
                  <a:lnTo>
                    <a:pt x="483476" y="483362"/>
                  </a:lnTo>
                  <a:lnTo>
                    <a:pt x="511797" y="450342"/>
                  </a:lnTo>
                  <a:lnTo>
                    <a:pt x="534784" y="413258"/>
                  </a:lnTo>
                  <a:lnTo>
                    <a:pt x="551929" y="372618"/>
                  </a:lnTo>
                  <a:lnTo>
                    <a:pt x="562724" y="329056"/>
                  </a:lnTo>
                  <a:lnTo>
                    <a:pt x="566407" y="283083"/>
                  </a:lnTo>
                  <a:lnTo>
                    <a:pt x="560946" y="227584"/>
                  </a:lnTo>
                  <a:lnTo>
                    <a:pt x="544817" y="174752"/>
                  </a:lnTo>
                  <a:lnTo>
                    <a:pt x="518782" y="125984"/>
                  </a:lnTo>
                  <a:lnTo>
                    <a:pt x="483476" y="82931"/>
                  </a:lnTo>
                  <a:lnTo>
                    <a:pt x="440296" y="47498"/>
                  </a:lnTo>
                  <a:lnTo>
                    <a:pt x="391553" y="21462"/>
                  </a:lnTo>
                  <a:lnTo>
                    <a:pt x="338696" y="5461"/>
                  </a:lnTo>
                  <a:lnTo>
                    <a:pt x="283184" y="0"/>
                  </a:lnTo>
                  <a:close/>
                </a:path>
              </a:pathLst>
            </a:custGeom>
            <a:solidFill>
              <a:srgbClr val="510C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2863" y="6023965"/>
              <a:ext cx="254787" cy="25478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44092" y="6480984"/>
            <a:ext cx="1872614" cy="72771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pc="-60" dirty="0">
                <a:solidFill>
                  <a:srgbClr val="2C30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spc="-140" dirty="0">
                <a:solidFill>
                  <a:srgbClr val="2C30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10" dirty="0">
                <a:solidFill>
                  <a:srgbClr val="2C30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Metric:</a:t>
            </a:r>
            <a:r>
              <a:rPr spc="-220" dirty="0">
                <a:solidFill>
                  <a:srgbClr val="2C30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2C30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pc="-10" dirty="0">
                <a:solidFill>
                  <a:srgbClr val="2C30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54930" y="5694691"/>
            <a:ext cx="4320540" cy="1747520"/>
            <a:chOff x="5155120" y="5667185"/>
            <a:chExt cx="4320540" cy="1747520"/>
          </a:xfrm>
        </p:grpSpPr>
        <p:sp>
          <p:nvSpPr>
            <p:cNvPr id="21" name="object 21"/>
            <p:cNvSpPr/>
            <p:nvPr/>
          </p:nvSpPr>
          <p:spPr>
            <a:xfrm>
              <a:off x="5159882" y="5671947"/>
              <a:ext cx="4311015" cy="1737995"/>
            </a:xfrm>
            <a:custGeom>
              <a:avLst/>
              <a:gdLst/>
              <a:ahLst/>
              <a:cxnLst/>
              <a:rect l="l" t="t" r="r" b="b"/>
              <a:pathLst>
                <a:path w="4311015" h="1737995">
                  <a:moveTo>
                    <a:pt x="4231132" y="0"/>
                  </a:moveTo>
                  <a:lnTo>
                    <a:pt x="79375" y="0"/>
                  </a:lnTo>
                  <a:lnTo>
                    <a:pt x="23240" y="23113"/>
                  </a:lnTo>
                  <a:lnTo>
                    <a:pt x="0" y="79247"/>
                  </a:lnTo>
                  <a:lnTo>
                    <a:pt x="0" y="1658239"/>
                  </a:lnTo>
                  <a:lnTo>
                    <a:pt x="6222" y="1689112"/>
                  </a:lnTo>
                  <a:lnTo>
                    <a:pt x="23240" y="1714322"/>
                  </a:lnTo>
                  <a:lnTo>
                    <a:pt x="48513" y="1731314"/>
                  </a:lnTo>
                  <a:lnTo>
                    <a:pt x="79375" y="1737550"/>
                  </a:lnTo>
                  <a:lnTo>
                    <a:pt x="4231132" y="1737550"/>
                  </a:lnTo>
                  <a:lnTo>
                    <a:pt x="4261993" y="1731314"/>
                  </a:lnTo>
                  <a:lnTo>
                    <a:pt x="4287266" y="1714322"/>
                  </a:lnTo>
                  <a:lnTo>
                    <a:pt x="4304284" y="1689112"/>
                  </a:lnTo>
                  <a:lnTo>
                    <a:pt x="4310507" y="1658239"/>
                  </a:lnTo>
                  <a:lnTo>
                    <a:pt x="4310507" y="79247"/>
                  </a:lnTo>
                  <a:lnTo>
                    <a:pt x="4304411" y="48894"/>
                  </a:lnTo>
                  <a:lnTo>
                    <a:pt x="4275200" y="13334"/>
                  </a:lnTo>
                  <a:lnTo>
                    <a:pt x="4231132" y="0"/>
                  </a:lnTo>
                  <a:close/>
                </a:path>
              </a:pathLst>
            </a:custGeom>
            <a:solidFill>
              <a:srgbClr val="DE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59882" y="5671947"/>
              <a:ext cx="4311015" cy="1737995"/>
            </a:xfrm>
            <a:custGeom>
              <a:avLst/>
              <a:gdLst/>
              <a:ahLst/>
              <a:cxnLst/>
              <a:rect l="l" t="t" r="r" b="b"/>
              <a:pathLst>
                <a:path w="4311015" h="1737995">
                  <a:moveTo>
                    <a:pt x="0" y="79247"/>
                  </a:moveTo>
                  <a:lnTo>
                    <a:pt x="6222" y="48386"/>
                  </a:lnTo>
                  <a:lnTo>
                    <a:pt x="23240" y="23113"/>
                  </a:lnTo>
                  <a:lnTo>
                    <a:pt x="48513" y="6222"/>
                  </a:lnTo>
                  <a:lnTo>
                    <a:pt x="79375" y="0"/>
                  </a:lnTo>
                  <a:lnTo>
                    <a:pt x="4231132" y="0"/>
                  </a:lnTo>
                  <a:lnTo>
                    <a:pt x="4275200" y="13334"/>
                  </a:lnTo>
                  <a:lnTo>
                    <a:pt x="4304411" y="48894"/>
                  </a:lnTo>
                  <a:lnTo>
                    <a:pt x="4310507" y="79247"/>
                  </a:lnTo>
                  <a:lnTo>
                    <a:pt x="4310507" y="1658239"/>
                  </a:lnTo>
                  <a:lnTo>
                    <a:pt x="4304284" y="1689112"/>
                  </a:lnTo>
                  <a:lnTo>
                    <a:pt x="4287266" y="1714322"/>
                  </a:lnTo>
                  <a:lnTo>
                    <a:pt x="4261993" y="1731314"/>
                  </a:lnTo>
                  <a:lnTo>
                    <a:pt x="4231132" y="1737550"/>
                  </a:lnTo>
                  <a:lnTo>
                    <a:pt x="79375" y="1737550"/>
                  </a:lnTo>
                  <a:lnTo>
                    <a:pt x="48513" y="1731314"/>
                  </a:lnTo>
                  <a:lnTo>
                    <a:pt x="23240" y="1714322"/>
                  </a:lnTo>
                  <a:lnTo>
                    <a:pt x="6222" y="1689112"/>
                  </a:lnTo>
                  <a:lnTo>
                    <a:pt x="0" y="1658239"/>
                  </a:lnTo>
                  <a:lnTo>
                    <a:pt x="0" y="79247"/>
                  </a:lnTo>
                  <a:close/>
                </a:path>
              </a:pathLst>
            </a:custGeom>
            <a:ln w="9523">
              <a:solidFill>
                <a:srgbClr val="510C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56224" y="5868289"/>
              <a:ext cx="566420" cy="566420"/>
            </a:xfrm>
            <a:custGeom>
              <a:avLst/>
              <a:gdLst/>
              <a:ahLst/>
              <a:cxnLst/>
              <a:rect l="l" t="t" r="r" b="b"/>
              <a:pathLst>
                <a:path w="566420" h="566420">
                  <a:moveTo>
                    <a:pt x="283210" y="0"/>
                  </a:moveTo>
                  <a:lnTo>
                    <a:pt x="237236" y="3683"/>
                  </a:lnTo>
                  <a:lnTo>
                    <a:pt x="193675" y="14350"/>
                  </a:lnTo>
                  <a:lnTo>
                    <a:pt x="153035" y="31496"/>
                  </a:lnTo>
                  <a:lnTo>
                    <a:pt x="115950" y="54610"/>
                  </a:lnTo>
                  <a:lnTo>
                    <a:pt x="82930" y="82931"/>
                  </a:lnTo>
                  <a:lnTo>
                    <a:pt x="54737" y="115824"/>
                  </a:lnTo>
                  <a:lnTo>
                    <a:pt x="31623" y="153035"/>
                  </a:lnTo>
                  <a:lnTo>
                    <a:pt x="14477" y="193675"/>
                  </a:lnTo>
                  <a:lnTo>
                    <a:pt x="3683" y="237236"/>
                  </a:lnTo>
                  <a:lnTo>
                    <a:pt x="0" y="283083"/>
                  </a:lnTo>
                  <a:lnTo>
                    <a:pt x="3683" y="329056"/>
                  </a:lnTo>
                  <a:lnTo>
                    <a:pt x="14477" y="372618"/>
                  </a:lnTo>
                  <a:lnTo>
                    <a:pt x="31623" y="413258"/>
                  </a:lnTo>
                  <a:lnTo>
                    <a:pt x="54737" y="450342"/>
                  </a:lnTo>
                  <a:lnTo>
                    <a:pt x="82930" y="483362"/>
                  </a:lnTo>
                  <a:lnTo>
                    <a:pt x="115950" y="511683"/>
                  </a:lnTo>
                  <a:lnTo>
                    <a:pt x="153035" y="534669"/>
                  </a:lnTo>
                  <a:lnTo>
                    <a:pt x="193675" y="551942"/>
                  </a:lnTo>
                  <a:lnTo>
                    <a:pt x="237236" y="562610"/>
                  </a:lnTo>
                  <a:lnTo>
                    <a:pt x="283210" y="566293"/>
                  </a:lnTo>
                  <a:lnTo>
                    <a:pt x="329184" y="562610"/>
                  </a:lnTo>
                  <a:lnTo>
                    <a:pt x="372745" y="551942"/>
                  </a:lnTo>
                  <a:lnTo>
                    <a:pt x="413385" y="534669"/>
                  </a:lnTo>
                  <a:lnTo>
                    <a:pt x="450469" y="511683"/>
                  </a:lnTo>
                  <a:lnTo>
                    <a:pt x="483488" y="483362"/>
                  </a:lnTo>
                  <a:lnTo>
                    <a:pt x="511810" y="450342"/>
                  </a:lnTo>
                  <a:lnTo>
                    <a:pt x="534797" y="413258"/>
                  </a:lnTo>
                  <a:lnTo>
                    <a:pt x="551941" y="372618"/>
                  </a:lnTo>
                  <a:lnTo>
                    <a:pt x="562737" y="329056"/>
                  </a:lnTo>
                  <a:lnTo>
                    <a:pt x="566420" y="283083"/>
                  </a:lnTo>
                  <a:lnTo>
                    <a:pt x="560959" y="227584"/>
                  </a:lnTo>
                  <a:lnTo>
                    <a:pt x="544829" y="174752"/>
                  </a:lnTo>
                  <a:lnTo>
                    <a:pt x="518795" y="125984"/>
                  </a:lnTo>
                  <a:lnTo>
                    <a:pt x="483488" y="82931"/>
                  </a:lnTo>
                  <a:lnTo>
                    <a:pt x="440309" y="47498"/>
                  </a:lnTo>
                  <a:lnTo>
                    <a:pt x="391540" y="21462"/>
                  </a:lnTo>
                  <a:lnTo>
                    <a:pt x="338709" y="5461"/>
                  </a:lnTo>
                  <a:lnTo>
                    <a:pt x="283210" y="0"/>
                  </a:lnTo>
                  <a:close/>
                </a:path>
              </a:pathLst>
            </a:custGeom>
            <a:solidFill>
              <a:srgbClr val="510C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2053" y="6023965"/>
              <a:ext cx="254787" cy="254787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343524" y="6480984"/>
            <a:ext cx="3495675" cy="636713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pc="-60" dirty="0">
                <a:solidFill>
                  <a:srgbClr val="2C30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spc="-140" dirty="0">
                <a:solidFill>
                  <a:srgbClr val="2C30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10" dirty="0">
                <a:solidFill>
                  <a:srgbClr val="2C30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</a:t>
            </a:r>
            <a:r>
              <a:rPr lang="en-US" spc="-110" dirty="0">
                <a:solidFill>
                  <a:srgbClr val="2C30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c:</a:t>
            </a:r>
            <a:r>
              <a:rPr lang="en-US" spc="-220" dirty="0">
                <a:solidFill>
                  <a:srgbClr val="2C30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SSH is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installed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Hardening =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N/A</a:t>
            </a:r>
            <a:endParaRPr lang="en-US" spc="-50" dirty="0">
              <a:solidFill>
                <a:srgbClr val="2C304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654350" y="5667185"/>
            <a:ext cx="4320540" cy="1747520"/>
            <a:chOff x="9654350" y="5667185"/>
            <a:chExt cx="4320540" cy="1747520"/>
          </a:xfrm>
        </p:grpSpPr>
        <p:sp>
          <p:nvSpPr>
            <p:cNvPr id="27" name="object 27"/>
            <p:cNvSpPr/>
            <p:nvPr/>
          </p:nvSpPr>
          <p:spPr>
            <a:xfrm>
              <a:off x="9659112" y="5671947"/>
              <a:ext cx="4311015" cy="1737995"/>
            </a:xfrm>
            <a:custGeom>
              <a:avLst/>
              <a:gdLst/>
              <a:ahLst/>
              <a:cxnLst/>
              <a:rect l="l" t="t" r="r" b="b"/>
              <a:pathLst>
                <a:path w="4311015" h="1737995">
                  <a:moveTo>
                    <a:pt x="4231132" y="0"/>
                  </a:moveTo>
                  <a:lnTo>
                    <a:pt x="79248" y="0"/>
                  </a:lnTo>
                  <a:lnTo>
                    <a:pt x="48387" y="6222"/>
                  </a:lnTo>
                  <a:lnTo>
                    <a:pt x="23241" y="23113"/>
                  </a:lnTo>
                  <a:lnTo>
                    <a:pt x="6223" y="48386"/>
                  </a:lnTo>
                  <a:lnTo>
                    <a:pt x="0" y="79247"/>
                  </a:lnTo>
                  <a:lnTo>
                    <a:pt x="0" y="1658239"/>
                  </a:lnTo>
                  <a:lnTo>
                    <a:pt x="6223" y="1689112"/>
                  </a:lnTo>
                  <a:lnTo>
                    <a:pt x="23241" y="1714322"/>
                  </a:lnTo>
                  <a:lnTo>
                    <a:pt x="48387" y="1731314"/>
                  </a:lnTo>
                  <a:lnTo>
                    <a:pt x="79248" y="1737550"/>
                  </a:lnTo>
                  <a:lnTo>
                    <a:pt x="4231132" y="1737550"/>
                  </a:lnTo>
                  <a:lnTo>
                    <a:pt x="4261993" y="1731314"/>
                  </a:lnTo>
                  <a:lnTo>
                    <a:pt x="4287266" y="1714322"/>
                  </a:lnTo>
                  <a:lnTo>
                    <a:pt x="4304284" y="1689112"/>
                  </a:lnTo>
                  <a:lnTo>
                    <a:pt x="4310507" y="1658239"/>
                  </a:lnTo>
                  <a:lnTo>
                    <a:pt x="4310507" y="79247"/>
                  </a:lnTo>
                  <a:lnTo>
                    <a:pt x="4304411" y="48894"/>
                  </a:lnTo>
                  <a:lnTo>
                    <a:pt x="4275201" y="13334"/>
                  </a:lnTo>
                  <a:lnTo>
                    <a:pt x="4231132" y="0"/>
                  </a:lnTo>
                  <a:close/>
                </a:path>
              </a:pathLst>
            </a:custGeom>
            <a:solidFill>
              <a:srgbClr val="DEE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659112" y="5671947"/>
              <a:ext cx="4311015" cy="1737995"/>
            </a:xfrm>
            <a:custGeom>
              <a:avLst/>
              <a:gdLst/>
              <a:ahLst/>
              <a:cxnLst/>
              <a:rect l="l" t="t" r="r" b="b"/>
              <a:pathLst>
                <a:path w="4311015" h="1737995">
                  <a:moveTo>
                    <a:pt x="0" y="79247"/>
                  </a:moveTo>
                  <a:lnTo>
                    <a:pt x="6223" y="48386"/>
                  </a:lnTo>
                  <a:lnTo>
                    <a:pt x="23241" y="23113"/>
                  </a:lnTo>
                  <a:lnTo>
                    <a:pt x="48387" y="6222"/>
                  </a:lnTo>
                  <a:lnTo>
                    <a:pt x="79248" y="0"/>
                  </a:lnTo>
                  <a:lnTo>
                    <a:pt x="4231132" y="0"/>
                  </a:lnTo>
                  <a:lnTo>
                    <a:pt x="4275201" y="13334"/>
                  </a:lnTo>
                  <a:lnTo>
                    <a:pt x="4304411" y="48894"/>
                  </a:lnTo>
                  <a:lnTo>
                    <a:pt x="4310507" y="79247"/>
                  </a:lnTo>
                  <a:lnTo>
                    <a:pt x="4310507" y="1658239"/>
                  </a:lnTo>
                  <a:lnTo>
                    <a:pt x="4304284" y="1689112"/>
                  </a:lnTo>
                  <a:lnTo>
                    <a:pt x="4287266" y="1714322"/>
                  </a:lnTo>
                  <a:lnTo>
                    <a:pt x="4261993" y="1731314"/>
                  </a:lnTo>
                  <a:lnTo>
                    <a:pt x="4231132" y="1737550"/>
                  </a:lnTo>
                  <a:lnTo>
                    <a:pt x="79248" y="1737550"/>
                  </a:lnTo>
                  <a:lnTo>
                    <a:pt x="48387" y="1731314"/>
                  </a:lnTo>
                  <a:lnTo>
                    <a:pt x="23241" y="1714322"/>
                  </a:lnTo>
                  <a:lnTo>
                    <a:pt x="6223" y="1689112"/>
                  </a:lnTo>
                  <a:lnTo>
                    <a:pt x="0" y="1658239"/>
                  </a:lnTo>
                  <a:lnTo>
                    <a:pt x="0" y="79247"/>
                  </a:lnTo>
                  <a:close/>
                </a:path>
              </a:pathLst>
            </a:custGeom>
            <a:ln w="9523">
              <a:solidFill>
                <a:srgbClr val="510C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855454" y="5868289"/>
              <a:ext cx="566420" cy="566420"/>
            </a:xfrm>
            <a:custGeom>
              <a:avLst/>
              <a:gdLst/>
              <a:ahLst/>
              <a:cxnLst/>
              <a:rect l="l" t="t" r="r" b="b"/>
              <a:pathLst>
                <a:path w="566420" h="566420">
                  <a:moveTo>
                    <a:pt x="283082" y="0"/>
                  </a:moveTo>
                  <a:lnTo>
                    <a:pt x="237236" y="3683"/>
                  </a:lnTo>
                  <a:lnTo>
                    <a:pt x="193675" y="14350"/>
                  </a:lnTo>
                  <a:lnTo>
                    <a:pt x="153035" y="31496"/>
                  </a:lnTo>
                  <a:lnTo>
                    <a:pt x="115824" y="54610"/>
                  </a:lnTo>
                  <a:lnTo>
                    <a:pt x="82930" y="82931"/>
                  </a:lnTo>
                  <a:lnTo>
                    <a:pt x="54610" y="115824"/>
                  </a:lnTo>
                  <a:lnTo>
                    <a:pt x="31496" y="153035"/>
                  </a:lnTo>
                  <a:lnTo>
                    <a:pt x="14350" y="193675"/>
                  </a:lnTo>
                  <a:lnTo>
                    <a:pt x="3682" y="237236"/>
                  </a:lnTo>
                  <a:lnTo>
                    <a:pt x="0" y="283083"/>
                  </a:lnTo>
                  <a:lnTo>
                    <a:pt x="3682" y="329056"/>
                  </a:lnTo>
                  <a:lnTo>
                    <a:pt x="14350" y="372618"/>
                  </a:lnTo>
                  <a:lnTo>
                    <a:pt x="31496" y="413258"/>
                  </a:lnTo>
                  <a:lnTo>
                    <a:pt x="54610" y="450342"/>
                  </a:lnTo>
                  <a:lnTo>
                    <a:pt x="82930" y="483362"/>
                  </a:lnTo>
                  <a:lnTo>
                    <a:pt x="115824" y="511683"/>
                  </a:lnTo>
                  <a:lnTo>
                    <a:pt x="153035" y="534669"/>
                  </a:lnTo>
                  <a:lnTo>
                    <a:pt x="193675" y="551942"/>
                  </a:lnTo>
                  <a:lnTo>
                    <a:pt x="237236" y="562610"/>
                  </a:lnTo>
                  <a:lnTo>
                    <a:pt x="283082" y="566293"/>
                  </a:lnTo>
                  <a:lnTo>
                    <a:pt x="329056" y="562610"/>
                  </a:lnTo>
                  <a:lnTo>
                    <a:pt x="372618" y="551942"/>
                  </a:lnTo>
                  <a:lnTo>
                    <a:pt x="413257" y="534669"/>
                  </a:lnTo>
                  <a:lnTo>
                    <a:pt x="450342" y="511683"/>
                  </a:lnTo>
                  <a:lnTo>
                    <a:pt x="483362" y="483362"/>
                  </a:lnTo>
                  <a:lnTo>
                    <a:pt x="511682" y="450342"/>
                  </a:lnTo>
                  <a:lnTo>
                    <a:pt x="534670" y="413258"/>
                  </a:lnTo>
                  <a:lnTo>
                    <a:pt x="551942" y="372618"/>
                  </a:lnTo>
                  <a:lnTo>
                    <a:pt x="562610" y="329056"/>
                  </a:lnTo>
                  <a:lnTo>
                    <a:pt x="566293" y="283083"/>
                  </a:lnTo>
                  <a:lnTo>
                    <a:pt x="560831" y="227584"/>
                  </a:lnTo>
                  <a:lnTo>
                    <a:pt x="544702" y="174752"/>
                  </a:lnTo>
                  <a:lnTo>
                    <a:pt x="518795" y="125984"/>
                  </a:lnTo>
                  <a:lnTo>
                    <a:pt x="483362" y="82931"/>
                  </a:lnTo>
                  <a:lnTo>
                    <a:pt x="440309" y="47498"/>
                  </a:lnTo>
                  <a:lnTo>
                    <a:pt x="391541" y="21462"/>
                  </a:lnTo>
                  <a:lnTo>
                    <a:pt x="338581" y="5461"/>
                  </a:lnTo>
                  <a:lnTo>
                    <a:pt x="283082" y="0"/>
                  </a:lnTo>
                  <a:close/>
                </a:path>
              </a:pathLst>
            </a:custGeom>
            <a:solidFill>
              <a:srgbClr val="510C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11156" y="6023965"/>
              <a:ext cx="254787" cy="25478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843007" y="6480984"/>
            <a:ext cx="2887345" cy="359714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pc="-60" dirty="0">
                <a:solidFill>
                  <a:srgbClr val="2C30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spc="-145" dirty="0">
                <a:solidFill>
                  <a:srgbClr val="2C30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5" dirty="0">
                <a:solidFill>
                  <a:srgbClr val="2C30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</a:t>
            </a:r>
            <a:r>
              <a:rPr lang="en-US" spc="-105" dirty="0">
                <a:solidFill>
                  <a:srgbClr val="2C30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c:</a:t>
            </a:r>
            <a:r>
              <a:rPr lang="en-US" spc="-210" dirty="0">
                <a:solidFill>
                  <a:srgbClr val="2C30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policy values</a:t>
            </a:r>
            <a:endParaRPr lang="en-US" spc="-20" dirty="0">
              <a:solidFill>
                <a:srgbClr val="2C304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E57BE2-5E79-215C-07E7-975F5B1F44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515" y="3056934"/>
            <a:ext cx="3490718" cy="23271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B6C16E-2228-56B1-7D3D-749410DCAD53}"/>
              </a:ext>
            </a:extLst>
          </p:cNvPr>
          <p:cNvSpPr txBox="1"/>
          <p:nvPr/>
        </p:nvSpPr>
        <p:spPr>
          <a:xfrm>
            <a:off x="228019" y="7799657"/>
            <a:ext cx="7338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0" dirty="0">
                <a:solidFill>
                  <a:srgbClr val="2C3048"/>
                </a:solidFill>
                <a:latin typeface="+mn-lt"/>
                <a:cs typeface="Arial"/>
              </a:rPr>
              <a:t>12/25/2025</a:t>
            </a:r>
          </a:p>
        </p:txBody>
      </p:sp>
      <p:sp>
        <p:nvSpPr>
          <p:cNvPr id="8" name="object 18">
            <a:extLst>
              <a:ext uri="{FF2B5EF4-FFF2-40B4-BE49-F238E27FC236}">
                <a16:creationId xmlns:a16="http://schemas.microsoft.com/office/drawing/2014/main" id="{29615DF4-4AF9-6651-5656-14A8B84AEC38}"/>
              </a:ext>
            </a:extLst>
          </p:cNvPr>
          <p:cNvSpPr txBox="1">
            <a:spLocks/>
          </p:cNvSpPr>
          <p:nvPr/>
        </p:nvSpPr>
        <p:spPr>
          <a:xfrm>
            <a:off x="14020801" y="7771343"/>
            <a:ext cx="152399" cy="24519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230">
              <a:lnSpc>
                <a:spcPts val="2090"/>
              </a:lnSpc>
            </a:pPr>
            <a:fld id="{81D60167-4931-47E6-BA6A-407CBD079E47}" type="slidenum">
              <a:rPr lang="en-US" spc="-50" smtClean="0"/>
              <a:pPr marL="62230">
                <a:lnSpc>
                  <a:spcPts val="2090"/>
                </a:lnSpc>
              </a:pPr>
              <a:t>9</a:t>
            </a:fld>
            <a:endParaRPr lang="en-US"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747" y="1180631"/>
            <a:ext cx="804357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dirty="0"/>
              <a:t>Report &amp; Scoring System</a:t>
            </a:r>
            <a:endParaRPr sz="4100" dirty="0"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11"/>
          </p:nvPr>
        </p:nvSpPr>
        <p:spPr>
          <a:xfrm>
            <a:off x="2465833" y="7806565"/>
            <a:ext cx="8915400" cy="2207090"/>
          </a:xfrm>
          <a:prstGeom prst="rect">
            <a:avLst/>
          </a:prstGeom>
        </p:spPr>
        <p:txBody>
          <a:bodyPr vert="horz" wrap="square" lIns="0" tIns="66750" rIns="0" bIns="0" rtlCol="0">
            <a:spAutoFit/>
          </a:bodyPr>
          <a:lstStyle/>
          <a:p>
            <a:pPr marL="649605">
              <a:lnSpc>
                <a:spcPts val="1810"/>
              </a:lnSpc>
            </a:pPr>
            <a:r>
              <a:rPr lang="en-US" sz="1800" dirty="0" err="1"/>
              <a:t>SentinelShield</a:t>
            </a:r>
            <a:r>
              <a:rPr lang="en-US" sz="1800" dirty="0"/>
              <a:t>: Advanced Linux Security Hardening &amp; Threat Audit Framework</a:t>
            </a:r>
          </a:p>
          <a:p>
            <a:pPr marL="649605">
              <a:lnSpc>
                <a:spcPts val="1810"/>
              </a:lnSpc>
            </a:pPr>
            <a:endParaRPr lang="en-US" sz="1800" spc="-10" dirty="0"/>
          </a:p>
          <a:p>
            <a:pPr marL="649605">
              <a:lnSpc>
                <a:spcPts val="1810"/>
              </a:lnSpc>
            </a:pPr>
            <a:endParaRPr lang="en-US" sz="1800" spc="-10" dirty="0"/>
          </a:p>
          <a:p>
            <a:pPr marL="12700">
              <a:lnSpc>
                <a:spcPts val="1810"/>
              </a:lnSpc>
            </a:pPr>
            <a:endParaRPr lang="en-US" sz="1800" spc="-10" dirty="0"/>
          </a:p>
          <a:p>
            <a:pPr marL="88900">
              <a:lnSpc>
                <a:spcPts val="1810"/>
              </a:lnSpc>
            </a:pPr>
            <a:endParaRPr lang="en-US" sz="1800" spc="-10" dirty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800" dirty="0"/>
          </a:p>
          <a:p>
            <a:pPr marL="344805">
              <a:lnSpc>
                <a:spcPts val="1810"/>
              </a:lnSpc>
            </a:pPr>
            <a:endParaRPr lang="en-US" sz="1800" spc="-10" dirty="0"/>
          </a:p>
          <a:p>
            <a:pPr marL="344805">
              <a:lnSpc>
                <a:spcPts val="1810"/>
              </a:lnSpc>
            </a:pPr>
            <a:endParaRPr lang="en-US" sz="1800" spc="-10" dirty="0"/>
          </a:p>
          <a:p>
            <a:pPr marL="42545">
              <a:lnSpc>
                <a:spcPts val="1810"/>
              </a:lnSpc>
            </a:pPr>
            <a:endParaRPr sz="1800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991906" y="4040532"/>
            <a:ext cx="5310010" cy="10797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600" dirty="0"/>
              <a:t>Generated Report Includes</a:t>
            </a:r>
            <a:endParaRPr lang="en-US" sz="3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250" dirty="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0" y="3935078"/>
            <a:ext cx="402907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600" dirty="0"/>
              <a:t>Scoring Logic</a:t>
            </a:r>
            <a:endParaRPr sz="3250" dirty="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2725" y="4943387"/>
            <a:ext cx="313969" cy="2718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21599" y="4890553"/>
            <a:ext cx="6030595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System information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5280" y="5359049"/>
            <a:ext cx="313969" cy="27185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24636" y="5297704"/>
            <a:ext cx="6170930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Audit results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412" y="5692706"/>
            <a:ext cx="313969" cy="27185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321599" y="5622488"/>
            <a:ext cx="6129020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SSH security status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34136" y="4558417"/>
            <a:ext cx="5221605" cy="17128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 marR="2045335">
              <a:lnSpc>
                <a:spcPct val="122400"/>
              </a:lnSpc>
              <a:spcBef>
                <a:spcPts val="100"/>
              </a:spcBef>
            </a:pPr>
            <a:r>
              <a:rPr lang="en-US" dirty="0"/>
              <a:t>World-writable issues → score deduction</a:t>
            </a:r>
          </a:p>
          <a:p>
            <a:pPr marL="116205" marR="2045335">
              <a:lnSpc>
                <a:spcPct val="122400"/>
              </a:lnSpc>
              <a:spcBef>
                <a:spcPts val="100"/>
              </a:spcBef>
            </a:pPr>
            <a:r>
              <a:rPr lang="en-US" dirty="0"/>
              <a:t>Policy mismatch → score deduction</a:t>
            </a:r>
          </a:p>
          <a:p>
            <a:pPr marL="116205" marR="2045335">
              <a:lnSpc>
                <a:spcPct val="122400"/>
              </a:lnSpc>
              <a:spcBef>
                <a:spcPts val="100"/>
              </a:spcBef>
            </a:pPr>
            <a:r>
              <a:rPr lang="en-US" dirty="0"/>
              <a:t>SSH not installed → </a:t>
            </a:r>
            <a:r>
              <a:rPr lang="en-US" b="1" dirty="0"/>
              <a:t>no penalty</a:t>
            </a:r>
            <a:endParaRPr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/>
          <p:nvPr/>
        </p:nvSpPr>
        <p:spPr>
          <a:xfrm flipH="1">
            <a:off x="6077127" y="3666715"/>
            <a:ext cx="45719" cy="3317979"/>
          </a:xfrm>
          <a:custGeom>
            <a:avLst/>
            <a:gdLst/>
            <a:ahLst/>
            <a:cxnLst/>
            <a:rect l="l" t="t" r="r" b="b"/>
            <a:pathLst>
              <a:path w="22859" h="1271904">
                <a:moveTo>
                  <a:pt x="22859" y="0"/>
                </a:moveTo>
                <a:lnTo>
                  <a:pt x="0" y="0"/>
                </a:lnTo>
                <a:lnTo>
                  <a:pt x="0" y="1271524"/>
                </a:lnTo>
                <a:lnTo>
                  <a:pt x="22859" y="1271524"/>
                </a:lnTo>
                <a:lnTo>
                  <a:pt x="22859" y="0"/>
                </a:lnTo>
                <a:close/>
              </a:path>
            </a:pathLst>
          </a:custGeom>
          <a:solidFill>
            <a:srgbClr val="436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4097000" y="7697571"/>
            <a:ext cx="26670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25" dirty="0">
                <a:solidFill>
                  <a:srgbClr val="272C45"/>
                </a:solidFill>
                <a:latin typeface="Arial"/>
                <a:cs typeface="Arial"/>
              </a:rPr>
              <a:t>10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22" name="object 6">
            <a:extLst>
              <a:ext uri="{FF2B5EF4-FFF2-40B4-BE49-F238E27FC236}">
                <a16:creationId xmlns:a16="http://schemas.microsoft.com/office/drawing/2014/main" id="{DD9785ED-1BBA-0198-BCEB-7F5FC1E3396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412" y="6007966"/>
            <a:ext cx="313969" cy="271851"/>
          </a:xfrm>
          <a:prstGeom prst="rect">
            <a:avLst/>
          </a:prstGeom>
        </p:spPr>
      </p:pic>
      <p:pic>
        <p:nvPicPr>
          <p:cNvPr id="23" name="object 6">
            <a:extLst>
              <a:ext uri="{FF2B5EF4-FFF2-40B4-BE49-F238E27FC236}">
                <a16:creationId xmlns:a16="http://schemas.microsoft.com/office/drawing/2014/main" id="{EA691429-05FA-7EE9-EF06-50D48A9601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8177" y="6394404"/>
            <a:ext cx="313969" cy="27185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5B3DF8A-EC68-EBCE-E15C-EFF42447DF9D}"/>
              </a:ext>
            </a:extLst>
          </p:cNvPr>
          <p:cNvSpPr txBox="1"/>
          <p:nvPr/>
        </p:nvSpPr>
        <p:spPr>
          <a:xfrm>
            <a:off x="1190381" y="6305548"/>
            <a:ext cx="7346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Security score (0–100)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B6EBCF-3396-8ABC-354A-998BDF14A5D9}"/>
              </a:ext>
            </a:extLst>
          </p:cNvPr>
          <p:cNvSpPr txBox="1"/>
          <p:nvPr/>
        </p:nvSpPr>
        <p:spPr>
          <a:xfrm>
            <a:off x="1182709" y="5967732"/>
            <a:ext cx="34215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Open ports &amp; services</a:t>
            </a:r>
          </a:p>
        </p:txBody>
      </p:sp>
      <p:pic>
        <p:nvPicPr>
          <p:cNvPr id="15" name="object 6">
            <a:extLst>
              <a:ext uri="{FF2B5EF4-FFF2-40B4-BE49-F238E27FC236}">
                <a16:creationId xmlns:a16="http://schemas.microsoft.com/office/drawing/2014/main" id="{5B8200F4-E4D9-766D-565A-80518AD5B7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9196" y="4617164"/>
            <a:ext cx="313969" cy="271851"/>
          </a:xfrm>
          <a:prstGeom prst="rect">
            <a:avLst/>
          </a:prstGeom>
        </p:spPr>
      </p:pic>
      <p:pic>
        <p:nvPicPr>
          <p:cNvPr id="20" name="object 6">
            <a:extLst>
              <a:ext uri="{FF2B5EF4-FFF2-40B4-BE49-F238E27FC236}">
                <a16:creationId xmlns:a16="http://schemas.microsoft.com/office/drawing/2014/main" id="{86BC411F-1328-D4DF-3F11-E7C98FE2DA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3593" y="5294575"/>
            <a:ext cx="313969" cy="271851"/>
          </a:xfrm>
          <a:prstGeom prst="rect">
            <a:avLst/>
          </a:prstGeom>
        </p:spPr>
      </p:pic>
      <p:pic>
        <p:nvPicPr>
          <p:cNvPr id="21" name="object 6">
            <a:extLst>
              <a:ext uri="{FF2B5EF4-FFF2-40B4-BE49-F238E27FC236}">
                <a16:creationId xmlns:a16="http://schemas.microsoft.com/office/drawing/2014/main" id="{3D5122F5-D7E3-B70C-A29E-ACCC33BCAC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9681" y="5995575"/>
            <a:ext cx="313969" cy="2718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D6DB2DE-D460-618E-775A-FD7CE073B8D2}"/>
              </a:ext>
            </a:extLst>
          </p:cNvPr>
          <p:cNvSpPr txBox="1"/>
          <p:nvPr/>
        </p:nvSpPr>
        <p:spPr>
          <a:xfrm>
            <a:off x="156920" y="7772691"/>
            <a:ext cx="7338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0" dirty="0">
                <a:solidFill>
                  <a:srgbClr val="2C3048"/>
                </a:solidFill>
                <a:latin typeface="+mn-lt"/>
                <a:cs typeface="Arial"/>
              </a:rPr>
              <a:t>12/25/2025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600" y="1169797"/>
            <a:ext cx="696531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dirty="0"/>
              <a:t>CPU Scheduling Module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xfrm>
            <a:off x="3124200" y="7882991"/>
            <a:ext cx="8991600" cy="2370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9605">
              <a:lnSpc>
                <a:spcPts val="1810"/>
              </a:lnSpc>
            </a:pPr>
            <a:r>
              <a:rPr lang="en-US" sz="1800" dirty="0" err="1"/>
              <a:t>SentinelShield</a:t>
            </a:r>
            <a:r>
              <a:rPr lang="en-US" sz="1800" dirty="0"/>
              <a:t>: Advanced Linux Security Hardening &amp; Threat Audit Framework</a:t>
            </a:r>
          </a:p>
          <a:p>
            <a:pPr marL="649605">
              <a:lnSpc>
                <a:spcPts val="1810"/>
              </a:lnSpc>
            </a:pPr>
            <a:endParaRPr lang="en-US" sz="1800" spc="-10" dirty="0"/>
          </a:p>
          <a:p>
            <a:pPr marL="649605">
              <a:lnSpc>
                <a:spcPts val="1810"/>
              </a:lnSpc>
            </a:pPr>
            <a:endParaRPr lang="en-US" sz="1800" spc="-10" dirty="0"/>
          </a:p>
          <a:p>
            <a:pPr marL="12700">
              <a:lnSpc>
                <a:spcPts val="1810"/>
              </a:lnSpc>
            </a:pPr>
            <a:endParaRPr lang="en-US" sz="1800" spc="-10" dirty="0"/>
          </a:p>
          <a:p>
            <a:pPr marL="88900">
              <a:lnSpc>
                <a:spcPts val="1810"/>
              </a:lnSpc>
            </a:pPr>
            <a:endParaRPr lang="en-US" sz="1800" spc="-10" dirty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800" dirty="0"/>
          </a:p>
          <a:p>
            <a:pPr marL="344805">
              <a:lnSpc>
                <a:spcPts val="1810"/>
              </a:lnSpc>
            </a:pPr>
            <a:endParaRPr lang="en-US" sz="1800" spc="-10" dirty="0"/>
          </a:p>
          <a:p>
            <a:pPr marL="344805">
              <a:lnSpc>
                <a:spcPts val="1810"/>
              </a:lnSpc>
            </a:pPr>
            <a:endParaRPr lang="en-US" sz="1800" spc="-10" dirty="0"/>
          </a:p>
          <a:p>
            <a:pPr marL="42545">
              <a:lnSpc>
                <a:spcPts val="1810"/>
              </a:lnSpc>
            </a:pPr>
            <a:endParaRPr lang="en-US" sz="1800" spc="-10" dirty="0"/>
          </a:p>
          <a:p>
            <a:pPr marL="1002030">
              <a:lnSpc>
                <a:spcPts val="1810"/>
              </a:lnSpc>
            </a:pPr>
            <a:endParaRPr sz="18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676400" y="3275116"/>
            <a:ext cx="990981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Algorithms Implemented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68024" y="3275116"/>
            <a:ext cx="2386330" cy="5742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00600"/>
              </a:lnSpc>
              <a:spcBef>
                <a:spcPts val="85"/>
              </a:spcBef>
            </a:pPr>
            <a:r>
              <a:rPr sz="1800" b="1" spc="-20" dirty="0">
                <a:latin typeface="Calibri"/>
                <a:cs typeface="Calibri"/>
              </a:rPr>
              <a:t> </a:t>
            </a:r>
            <a:r>
              <a:rPr lang="en-US" b="1" spc="-20" dirty="0">
                <a:latin typeface="Calibri"/>
                <a:cs typeface="Calibri"/>
              </a:rPr>
              <a:t>Output </a:t>
            </a:r>
          </a:p>
          <a:p>
            <a:pPr marL="12700" marR="5080" algn="just">
              <a:lnSpc>
                <a:spcPct val="100600"/>
              </a:lnSpc>
              <a:spcBef>
                <a:spcPts val="85"/>
              </a:spcBef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54354" y="7755751"/>
            <a:ext cx="35750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z="1800" b="1" spc="-25" dirty="0">
                <a:latin typeface="Arial"/>
                <a:cs typeface="Arial"/>
              </a:rPr>
              <a:t>11</a:t>
            </a:fld>
            <a:endParaRPr sz="1800">
              <a:latin typeface="Arial"/>
              <a:cs typeface="Arial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5EB936E-019B-3BDC-B078-95D8274F9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138246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FCFS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SJF (Non-preemptive)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Round Robin (Quantum)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7806D9E-1B59-FFB0-D31F-E5327A7FB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137" y="3562246"/>
            <a:ext cx="389572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Waiting Time (WT)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Turnaround Time (TAT)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Gantt Chart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WT &amp; TAT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8E16A6-1D53-0796-0C1D-D5C389B9E4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961" y="3562246"/>
            <a:ext cx="4518024" cy="30120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6EC356-7FDC-2A60-3929-DA63D9BD24A1}"/>
              </a:ext>
            </a:extLst>
          </p:cNvPr>
          <p:cNvSpPr txBox="1"/>
          <p:nvPr/>
        </p:nvSpPr>
        <p:spPr>
          <a:xfrm>
            <a:off x="304800" y="7877129"/>
            <a:ext cx="7461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0" dirty="0">
                <a:solidFill>
                  <a:srgbClr val="2C3048"/>
                </a:solidFill>
                <a:latin typeface="+mn-lt"/>
                <a:cs typeface="Arial"/>
              </a:rPr>
              <a:t>12/25/2025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5846" y="1355573"/>
            <a:ext cx="54686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dirty="0"/>
              <a:t>Conclusion &amp; Future Scope</a:t>
            </a:r>
            <a:r>
              <a:rPr sz="2800" b="1" spc="-50" dirty="0">
                <a:solidFill>
                  <a:srgbClr val="000000"/>
                </a:solidFill>
                <a:latin typeface="Calibri"/>
                <a:cs typeface="Calibri"/>
              </a:rPr>
              <a:t>?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xfrm>
            <a:off x="3335807" y="7767061"/>
            <a:ext cx="8458200" cy="2491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9605">
              <a:lnSpc>
                <a:spcPts val="1810"/>
              </a:lnSpc>
            </a:pPr>
            <a:r>
              <a:rPr lang="en-US" sz="1800" dirty="0" err="1"/>
              <a:t>SentinelShield</a:t>
            </a:r>
            <a:r>
              <a:rPr lang="en-US" sz="1800" dirty="0"/>
              <a:t>: Advanced Linux Security Hardening &amp; Threat Audit Framework</a:t>
            </a:r>
          </a:p>
          <a:p>
            <a:pPr marL="649605">
              <a:lnSpc>
                <a:spcPts val="1810"/>
              </a:lnSpc>
            </a:pPr>
            <a:endParaRPr lang="en-US" spc="-10" dirty="0"/>
          </a:p>
          <a:p>
            <a:pPr marL="649605">
              <a:lnSpc>
                <a:spcPts val="1810"/>
              </a:lnSpc>
            </a:pPr>
            <a:endParaRPr lang="en-US" spc="-10" dirty="0"/>
          </a:p>
          <a:p>
            <a:pPr marL="12700">
              <a:lnSpc>
                <a:spcPts val="1810"/>
              </a:lnSpc>
            </a:pPr>
            <a:endParaRPr lang="en-US" spc="-10" dirty="0"/>
          </a:p>
          <a:p>
            <a:pPr marL="88900">
              <a:lnSpc>
                <a:spcPts val="1810"/>
              </a:lnSpc>
            </a:pPr>
            <a:endParaRPr lang="en-US" spc="-10" dirty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dirty="0"/>
          </a:p>
          <a:p>
            <a:pPr marL="344805">
              <a:lnSpc>
                <a:spcPts val="1810"/>
              </a:lnSpc>
            </a:pPr>
            <a:endParaRPr lang="en-US" spc="-10" dirty="0"/>
          </a:p>
          <a:p>
            <a:pPr marL="344805">
              <a:lnSpc>
                <a:spcPts val="1810"/>
              </a:lnSpc>
            </a:pPr>
            <a:endParaRPr lang="en-US" spc="-10" dirty="0"/>
          </a:p>
          <a:p>
            <a:pPr marL="42545">
              <a:lnSpc>
                <a:spcPts val="1810"/>
              </a:lnSpc>
            </a:pPr>
            <a:endParaRPr lang="en-US" spc="-10" dirty="0"/>
          </a:p>
          <a:p>
            <a:pPr marL="1002030">
              <a:lnSpc>
                <a:spcPts val="1810"/>
              </a:lnSpc>
            </a:pPr>
            <a:endParaRPr lang="en-US" spc="-10" dirty="0"/>
          </a:p>
          <a:p>
            <a:pPr marL="1002030">
              <a:lnSpc>
                <a:spcPts val="1810"/>
              </a:lnSpc>
            </a:pP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1667256" y="2316042"/>
            <a:ext cx="7364095" cy="12561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b="1" dirty="0"/>
              <a:t>Achievements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4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54354" y="7755751"/>
            <a:ext cx="35750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z="1800" b="1" spc="-25" dirty="0">
                <a:latin typeface="Arial"/>
                <a:cs typeface="Arial"/>
              </a:rPr>
              <a:t>12</a:t>
            </a:fld>
            <a:endParaRPr sz="1800">
              <a:latin typeface="Arial"/>
              <a:cs typeface="Arial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99D8A18-BFE6-138E-BBAB-DB5A9B7BC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3085" y="3033936"/>
            <a:ext cx="460573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 SSH hardening with rollback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Policy-based decision 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menu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automated Linux security audit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B015ED-036A-C2BD-DD30-EC4FA03C27B6}"/>
              </a:ext>
            </a:extLst>
          </p:cNvPr>
          <p:cNvSpPr txBox="1"/>
          <p:nvPr/>
        </p:nvSpPr>
        <p:spPr>
          <a:xfrm>
            <a:off x="8810121" y="2166030"/>
            <a:ext cx="51054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/>
              <a:t>Future Enhancements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Firewall (UFW) hardening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CIS benchmark checks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HTML / PDF reports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Cron-based scheduled scans</a:t>
            </a:r>
          </a:p>
        </p:txBody>
      </p:sp>
      <p:pic>
        <p:nvPicPr>
          <p:cNvPr id="11" name="Picture 10" descr="A computer security system with a shield and icons&#10;&#10;AI-generated content may be incorrect.">
            <a:extLst>
              <a:ext uri="{FF2B5EF4-FFF2-40B4-BE49-F238E27FC236}">
                <a16:creationId xmlns:a16="http://schemas.microsoft.com/office/drawing/2014/main" id="{E5DF1D0D-5D8E-F13C-E6F8-7E53EB247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546572"/>
            <a:ext cx="2467319" cy="21910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7739A93-1B44-5476-9E18-5E7DF8C4661E}"/>
              </a:ext>
            </a:extLst>
          </p:cNvPr>
          <p:cNvSpPr txBox="1"/>
          <p:nvPr/>
        </p:nvSpPr>
        <p:spPr>
          <a:xfrm>
            <a:off x="-11723" y="7767474"/>
            <a:ext cx="7338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0" dirty="0">
                <a:solidFill>
                  <a:srgbClr val="2C3048"/>
                </a:solidFill>
                <a:latin typeface="+mn-lt"/>
                <a:cs typeface="Arial"/>
              </a:rPr>
              <a:t>12/25/2025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5BF3515-7B87-6685-EAC8-EB799356F5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730" y="4589865"/>
            <a:ext cx="3286584" cy="21910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5222-3DA1-0A85-70FB-E00864D956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01E652-75BA-BE3C-BB66-B532555F76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112E10-3A80-1498-E915-01CB1F11D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727203"/>
            <a:ext cx="9372599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611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C1A875BA1C404F981E3502D6ED43FF" ma:contentTypeVersion="12" ma:contentTypeDescription="Create a new document." ma:contentTypeScope="" ma:versionID="f6e69259e71e08feb48201fa428bdcaf">
  <xsd:schema xmlns:xsd="http://www.w3.org/2001/XMLSchema" xmlns:xs="http://www.w3.org/2001/XMLSchema" xmlns:p="http://schemas.microsoft.com/office/2006/metadata/properties" xmlns:ns2="6030b4a1-aee5-4531-86fa-0805b4feb5b0" xmlns:ns3="af4c76e6-2801-46ab-9dd4-80bec5776fe4" targetNamespace="http://schemas.microsoft.com/office/2006/metadata/properties" ma:root="true" ma:fieldsID="a65038bd22a97c422ef87f09c22f8896" ns2:_="" ns3:_="">
    <xsd:import namespace="6030b4a1-aee5-4531-86fa-0805b4feb5b0"/>
    <xsd:import namespace="af4c76e6-2801-46ab-9dd4-80bec5776fe4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30b4a1-aee5-4531-86fa-0805b4feb5b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767e7ced-61ee-46db-9006-17444c58eb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4c76e6-2801-46ab-9dd4-80bec5776fe4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95c6c2dc-199a-4c7f-8007-a84d719f563e}" ma:internalName="TaxCatchAll" ma:showField="CatchAllData" ma:web="af4c76e6-2801-46ab-9dd4-80bec5776f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f4c76e6-2801-46ab-9dd4-80bec5776fe4" xsi:nil="true"/>
    <lcf76f155ced4ddcb4097134ff3c332f xmlns="6030b4a1-aee5-4531-86fa-0805b4feb5b0">
      <Terms xmlns="http://schemas.microsoft.com/office/infopath/2007/PartnerControls"/>
    </lcf76f155ced4ddcb4097134ff3c332f>
    <ReferenceId xmlns="6030b4a1-aee5-4531-86fa-0805b4feb5b0" xsi:nil="true"/>
  </documentManagement>
</p:properties>
</file>

<file path=customXml/itemProps1.xml><?xml version="1.0" encoding="utf-8"?>
<ds:datastoreItem xmlns:ds="http://schemas.openxmlformats.org/officeDocument/2006/customXml" ds:itemID="{0709224E-A352-492C-83BF-0CB0CB4144E2}"/>
</file>

<file path=customXml/itemProps2.xml><?xml version="1.0" encoding="utf-8"?>
<ds:datastoreItem xmlns:ds="http://schemas.openxmlformats.org/officeDocument/2006/customXml" ds:itemID="{5C838730-AE74-48D5-913D-5FC7F737F279}"/>
</file>

<file path=customXml/itemProps3.xml><?xml version="1.0" encoding="utf-8"?>
<ds:datastoreItem xmlns:ds="http://schemas.openxmlformats.org/officeDocument/2006/customXml" ds:itemID="{D7854F93-2E8D-4EF3-B782-158CA7BB9926}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529</TotalTime>
  <Words>598</Words>
  <Application>Microsoft Office PowerPoint</Application>
  <PresentationFormat>Custom</PresentationFormat>
  <Paragraphs>186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MT</vt:lpstr>
      <vt:lpstr>Calibri</vt:lpstr>
      <vt:lpstr>Garamond</vt:lpstr>
      <vt:lpstr>Impact</vt:lpstr>
      <vt:lpstr>Lucida Sans Unicode</vt:lpstr>
      <vt:lpstr>Organic</vt:lpstr>
      <vt:lpstr>SentinelShield Advanced Linux Security Hardening  &amp; Threat Audit Framework </vt:lpstr>
      <vt:lpstr>The Threat Audit Team: Expertise Driving Linux Security Our team combines deep expertise in Linux security and automation. This enables us to design robust and real-world system solutions.</vt:lpstr>
      <vt:lpstr>Why SentinelShield?</vt:lpstr>
      <vt:lpstr>Main Goal?</vt:lpstr>
      <vt:lpstr>Security Workflow!</vt:lpstr>
      <vt:lpstr>Technologies Used</vt:lpstr>
      <vt:lpstr>What is audited?</vt:lpstr>
      <vt:lpstr>Policy-based Security?</vt:lpstr>
      <vt:lpstr>SSH Hardening (Safe Design)</vt:lpstr>
      <vt:lpstr>Report &amp; Scoring System</vt:lpstr>
      <vt:lpstr>CPU Scheduling Module</vt:lpstr>
      <vt:lpstr>Conclusion &amp; Future Scope?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NeuralWave_AI-Based Healthcare Access Chatbot for Rural Bangladesh.pptx</dc:title>
  <dc:creator>Shahed Shamim</dc:creator>
  <cp:lastModifiedBy>Promod Chondra Das</cp:lastModifiedBy>
  <cp:revision>2</cp:revision>
  <cp:lastPrinted>2025-12-25T15:32:46Z</cp:lastPrinted>
  <dcterms:created xsi:type="dcterms:W3CDTF">2025-12-25T08:34:10Z</dcterms:created>
  <dcterms:modified xsi:type="dcterms:W3CDTF">2025-12-25T20:06:02Z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2025-12-25T00:00:00Z</vt:filetime>
  </property>
  <property fmtid="{D5CDD505-2E9C-101B-9397-08002B2CF9AE}" pid="5" name="Producer">
    <vt:lpwstr>Microsoft® PowerPoint® LTSC</vt:lpwstr>
  </property>
  <property fmtid="{D5CDD505-2E9C-101B-9397-08002B2CF9AE}" pid="6" name="ContentTypeId">
    <vt:lpwstr>0x010100BAC1A875BA1C404F981E3502D6ED43FF</vt:lpwstr>
  </property>
</Properties>
</file>